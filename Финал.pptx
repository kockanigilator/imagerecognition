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69" r:id="rId13"/>
    <p:sldId id="265" r:id="rId14"/>
  </p:sldIdLst>
  <p:sldSz cx="18288000" cy="10287000"/>
  <p:notesSz cx="6858000" cy="9144000"/>
  <p:embeddedFontLst>
    <p:embeddedFont>
      <p:font typeface="Times New Roman Italic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53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8740" y="528504"/>
            <a:ext cx="15590520" cy="1915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Министерство науки и высшего образования Российской Федерации </a:t>
            </a:r>
          </a:p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Федеральное государственное бюджетное образовательное учреждение </a:t>
            </a:r>
          </a:p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высшего образования</a:t>
            </a:r>
          </a:p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«Тверской государственный технический университет» </a:t>
            </a:r>
          </a:p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(ТвГТУ) </a:t>
            </a:r>
          </a:p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Кафедра Программного обеспечения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45512" y="4156148"/>
            <a:ext cx="16196986" cy="1668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Курсовая работа </a:t>
            </a:r>
          </a:p>
          <a:p>
            <a:pPr algn="ctr">
              <a:lnSpc>
                <a:spcPts val="4200"/>
              </a:lnSpc>
            </a:pPr>
            <a:r>
              <a:rPr lang="en-US" sz="3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 тему: «Разработка программной системы распознавания изображений на основе алгоритма k-ближайших соседей с использованием k-мерного дерева»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426582" y="7536218"/>
            <a:ext cx="5393912" cy="1899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Выполнил: Лёвкин Д.А.</a:t>
            </a:r>
          </a:p>
          <a:p>
            <a:pPr algn="r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Группа: Б.ПИН.ИИ.24.16</a:t>
            </a:r>
          </a:p>
          <a:p>
            <a:pPr algn="r">
              <a:lnSpc>
                <a:spcPts val="3600"/>
              </a:lnSpc>
            </a:pPr>
            <a:r>
              <a:rPr lang="en-US" sz="3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Проверил: Мальков А.А.</a:t>
            </a:r>
          </a:p>
          <a:p>
            <a:pPr algn="l">
              <a:lnSpc>
                <a:spcPts val="3600"/>
              </a:lnSpc>
            </a:pPr>
            <a:endParaRPr lang="en-US" sz="30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1847259"/>
            <a:ext cx="7241381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Актуальность задачи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81666" y="3435829"/>
            <a:ext cx="4678413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Базовая задача компьютерного зрения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81666" y="4425086"/>
            <a:ext cx="4678413" cy="2372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Распознавание изображений лежит в основе OCR, детекции объектов, классификации и анализа визуальной информации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510633" y="3435829"/>
            <a:ext cx="4678413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Требования реальных систем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510633" y="4425086"/>
            <a:ext cx="4678413" cy="1919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Контроль доступа, сканеры документов, медицинская диагностика — все требуют быстрых и объяснимых методов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39590" y="343582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Понимание изнутри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039590" y="3982174"/>
            <a:ext cx="4678413" cy="2372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Готовые ML-решения (TensorFlow, scikit-learn) работают как «чёрный ящик» — важно понимать алгоритмы детально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5846140" y="750760"/>
            <a:ext cx="7088238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Целевая аудитория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73188" y="2342617"/>
            <a:ext cx="7569727" cy="2201618"/>
            <a:chOff x="0" y="0"/>
            <a:chExt cx="10092969" cy="2935491"/>
          </a:xfrm>
        </p:grpSpPr>
        <p:sp>
          <p:nvSpPr>
            <p:cNvPr id="8" name="Freeform 8"/>
            <p:cNvSpPr/>
            <p:nvPr/>
          </p:nvSpPr>
          <p:spPr>
            <a:xfrm>
              <a:off x="25400" y="25400"/>
              <a:ext cx="10042144" cy="2884678"/>
            </a:xfrm>
            <a:custGeom>
              <a:avLst/>
              <a:gdLst/>
              <a:ahLst/>
              <a:cxnLst/>
              <a:rect l="l" t="t" r="r" b="b"/>
              <a:pathLst>
                <a:path w="10042144" h="2884678">
                  <a:moveTo>
                    <a:pt x="0" y="243840"/>
                  </a:moveTo>
                  <a:cubicBezTo>
                    <a:pt x="0" y="109220"/>
                    <a:pt x="110490" y="0"/>
                    <a:pt x="246888" y="0"/>
                  </a:cubicBezTo>
                  <a:lnTo>
                    <a:pt x="9795256" y="0"/>
                  </a:lnTo>
                  <a:cubicBezTo>
                    <a:pt x="9931654" y="0"/>
                    <a:pt x="10042144" y="109220"/>
                    <a:pt x="10042144" y="243840"/>
                  </a:cubicBezTo>
                  <a:lnTo>
                    <a:pt x="10042144" y="2640838"/>
                  </a:lnTo>
                  <a:cubicBezTo>
                    <a:pt x="10042144" y="2775458"/>
                    <a:pt x="9931654" y="2884678"/>
                    <a:pt x="9795256" y="2884678"/>
                  </a:cubicBezTo>
                  <a:lnTo>
                    <a:pt x="246888" y="2884678"/>
                  </a:lnTo>
                  <a:cubicBezTo>
                    <a:pt x="110490" y="2884678"/>
                    <a:pt x="0" y="2775458"/>
                    <a:pt x="0" y="264083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Freeform 9"/>
            <p:cNvSpPr/>
            <p:nvPr/>
          </p:nvSpPr>
          <p:spPr>
            <a:xfrm>
              <a:off x="0" y="0"/>
              <a:ext cx="10092944" cy="2935478"/>
            </a:xfrm>
            <a:custGeom>
              <a:avLst/>
              <a:gdLst/>
              <a:ahLst/>
              <a:cxnLst/>
              <a:rect l="l" t="t" r="r" b="b"/>
              <a:pathLst>
                <a:path w="10092944" h="2935478">
                  <a:moveTo>
                    <a:pt x="0" y="269240"/>
                  </a:moveTo>
                  <a:cubicBezTo>
                    <a:pt x="0" y="120269"/>
                    <a:pt x="122174" y="0"/>
                    <a:pt x="272288" y="0"/>
                  </a:cubicBezTo>
                  <a:lnTo>
                    <a:pt x="9820656" y="0"/>
                  </a:lnTo>
                  <a:lnTo>
                    <a:pt x="9820656" y="25400"/>
                  </a:lnTo>
                  <a:lnTo>
                    <a:pt x="9820656" y="0"/>
                  </a:lnTo>
                  <a:cubicBezTo>
                    <a:pt x="9970770" y="0"/>
                    <a:pt x="10092944" y="120269"/>
                    <a:pt x="10092944" y="269240"/>
                  </a:cubicBezTo>
                  <a:lnTo>
                    <a:pt x="10067544" y="269240"/>
                  </a:lnTo>
                  <a:lnTo>
                    <a:pt x="10092944" y="269240"/>
                  </a:lnTo>
                  <a:lnTo>
                    <a:pt x="10092944" y="2666238"/>
                  </a:lnTo>
                  <a:lnTo>
                    <a:pt x="10067544" y="2666238"/>
                  </a:lnTo>
                  <a:lnTo>
                    <a:pt x="10092944" y="2666238"/>
                  </a:lnTo>
                  <a:cubicBezTo>
                    <a:pt x="10092944" y="2815209"/>
                    <a:pt x="9970770" y="2935478"/>
                    <a:pt x="9820656" y="2935478"/>
                  </a:cubicBezTo>
                  <a:lnTo>
                    <a:pt x="9820656" y="2910078"/>
                  </a:lnTo>
                  <a:lnTo>
                    <a:pt x="9820656" y="2935478"/>
                  </a:lnTo>
                  <a:lnTo>
                    <a:pt x="272288" y="2935478"/>
                  </a:lnTo>
                  <a:lnTo>
                    <a:pt x="272288" y="2910078"/>
                  </a:lnTo>
                  <a:lnTo>
                    <a:pt x="272288" y="2935478"/>
                  </a:lnTo>
                  <a:cubicBezTo>
                    <a:pt x="122174" y="2935478"/>
                    <a:pt x="0" y="2815209"/>
                    <a:pt x="0" y="2666238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2666238"/>
                  </a:lnTo>
                  <a:lnTo>
                    <a:pt x="25400" y="2666238"/>
                  </a:lnTo>
                  <a:lnTo>
                    <a:pt x="50800" y="2666238"/>
                  </a:lnTo>
                  <a:cubicBezTo>
                    <a:pt x="50800" y="2786634"/>
                    <a:pt x="149606" y="2884678"/>
                    <a:pt x="272288" y="2884678"/>
                  </a:cubicBezTo>
                  <a:lnTo>
                    <a:pt x="9820656" y="2884678"/>
                  </a:lnTo>
                  <a:cubicBezTo>
                    <a:pt x="9943338" y="2884678"/>
                    <a:pt x="10042144" y="2786634"/>
                    <a:pt x="10042144" y="2666238"/>
                  </a:cubicBezTo>
                  <a:lnTo>
                    <a:pt x="10042144" y="269240"/>
                  </a:lnTo>
                  <a:cubicBezTo>
                    <a:pt x="10042144" y="148844"/>
                    <a:pt x="9943338" y="50800"/>
                    <a:pt x="9820656" y="50800"/>
                  </a:cubicBezTo>
                  <a:lnTo>
                    <a:pt x="272288" y="50800"/>
                  </a:lnTo>
                  <a:lnTo>
                    <a:pt x="272288" y="25400"/>
                  </a:lnTo>
                  <a:lnTo>
                    <a:pt x="272288" y="50800"/>
                  </a:lnTo>
                  <a:cubicBezTo>
                    <a:pt x="149606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sp>
        <p:nvSpPr>
          <p:cNvPr id="10" name="TextBox 10"/>
          <p:cNvSpPr txBox="1"/>
          <p:nvPr/>
        </p:nvSpPr>
        <p:spPr>
          <a:xfrm>
            <a:off x="1428159" y="2553738"/>
            <a:ext cx="4656830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Студенты и преподаватели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8159" y="3100092"/>
            <a:ext cx="6730917" cy="1305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Курсы «Алгоритмы и структуры данных» — наглядная демонстрация работы kNN и KD-Tree на практике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0097100" y="2342617"/>
            <a:ext cx="7462380" cy="2201618"/>
            <a:chOff x="0" y="0"/>
            <a:chExt cx="9949840" cy="2935491"/>
          </a:xfrm>
        </p:grpSpPr>
        <p:sp>
          <p:nvSpPr>
            <p:cNvPr id="13" name="Freeform 13"/>
            <p:cNvSpPr/>
            <p:nvPr/>
          </p:nvSpPr>
          <p:spPr>
            <a:xfrm>
              <a:off x="25400" y="25400"/>
              <a:ext cx="9899015" cy="2884678"/>
            </a:xfrm>
            <a:custGeom>
              <a:avLst/>
              <a:gdLst/>
              <a:ahLst/>
              <a:cxnLst/>
              <a:rect l="l" t="t" r="r" b="b"/>
              <a:pathLst>
                <a:path w="9899015" h="2884678">
                  <a:moveTo>
                    <a:pt x="0" y="243840"/>
                  </a:moveTo>
                  <a:cubicBezTo>
                    <a:pt x="0" y="109220"/>
                    <a:pt x="110490" y="0"/>
                    <a:pt x="246888" y="0"/>
                  </a:cubicBezTo>
                  <a:lnTo>
                    <a:pt x="9652127" y="0"/>
                  </a:lnTo>
                  <a:cubicBezTo>
                    <a:pt x="9788525" y="0"/>
                    <a:pt x="9899015" y="109220"/>
                    <a:pt x="9899015" y="243840"/>
                  </a:cubicBezTo>
                  <a:lnTo>
                    <a:pt x="9899015" y="2640838"/>
                  </a:lnTo>
                  <a:cubicBezTo>
                    <a:pt x="9899015" y="2775458"/>
                    <a:pt x="9788525" y="2884678"/>
                    <a:pt x="9652127" y="2884678"/>
                  </a:cubicBezTo>
                  <a:lnTo>
                    <a:pt x="246888" y="2884678"/>
                  </a:lnTo>
                  <a:cubicBezTo>
                    <a:pt x="110490" y="2884678"/>
                    <a:pt x="0" y="2775458"/>
                    <a:pt x="0" y="2640838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Freeform 14"/>
            <p:cNvSpPr/>
            <p:nvPr/>
          </p:nvSpPr>
          <p:spPr>
            <a:xfrm>
              <a:off x="0" y="0"/>
              <a:ext cx="9949815" cy="2935478"/>
            </a:xfrm>
            <a:custGeom>
              <a:avLst/>
              <a:gdLst/>
              <a:ahLst/>
              <a:cxnLst/>
              <a:rect l="l" t="t" r="r" b="b"/>
              <a:pathLst>
                <a:path w="9949815" h="2935478">
                  <a:moveTo>
                    <a:pt x="0" y="269240"/>
                  </a:moveTo>
                  <a:cubicBezTo>
                    <a:pt x="0" y="120269"/>
                    <a:pt x="122174" y="0"/>
                    <a:pt x="272288" y="0"/>
                  </a:cubicBezTo>
                  <a:lnTo>
                    <a:pt x="9677527" y="0"/>
                  </a:lnTo>
                  <a:lnTo>
                    <a:pt x="9677527" y="25400"/>
                  </a:lnTo>
                  <a:lnTo>
                    <a:pt x="9677527" y="0"/>
                  </a:lnTo>
                  <a:cubicBezTo>
                    <a:pt x="9827641" y="0"/>
                    <a:pt x="9949815" y="120269"/>
                    <a:pt x="9949815" y="269240"/>
                  </a:cubicBezTo>
                  <a:lnTo>
                    <a:pt x="9924415" y="269240"/>
                  </a:lnTo>
                  <a:lnTo>
                    <a:pt x="9949815" y="269240"/>
                  </a:lnTo>
                  <a:lnTo>
                    <a:pt x="9949815" y="2666238"/>
                  </a:lnTo>
                  <a:lnTo>
                    <a:pt x="9924415" y="2666238"/>
                  </a:lnTo>
                  <a:lnTo>
                    <a:pt x="9949815" y="2666238"/>
                  </a:lnTo>
                  <a:cubicBezTo>
                    <a:pt x="9949815" y="2815209"/>
                    <a:pt x="9827641" y="2935478"/>
                    <a:pt x="9677527" y="2935478"/>
                  </a:cubicBezTo>
                  <a:lnTo>
                    <a:pt x="9677527" y="2910078"/>
                  </a:lnTo>
                  <a:lnTo>
                    <a:pt x="9677527" y="2935478"/>
                  </a:lnTo>
                  <a:lnTo>
                    <a:pt x="272288" y="2935478"/>
                  </a:lnTo>
                  <a:lnTo>
                    <a:pt x="272288" y="2910078"/>
                  </a:lnTo>
                  <a:lnTo>
                    <a:pt x="272288" y="2935478"/>
                  </a:lnTo>
                  <a:cubicBezTo>
                    <a:pt x="122174" y="2935478"/>
                    <a:pt x="0" y="2815209"/>
                    <a:pt x="0" y="2666238"/>
                  </a:cubicBezTo>
                  <a:lnTo>
                    <a:pt x="0" y="269240"/>
                  </a:lnTo>
                  <a:lnTo>
                    <a:pt x="25400" y="269240"/>
                  </a:lnTo>
                  <a:lnTo>
                    <a:pt x="0" y="269240"/>
                  </a:lnTo>
                  <a:moveTo>
                    <a:pt x="50800" y="269240"/>
                  </a:moveTo>
                  <a:lnTo>
                    <a:pt x="50800" y="2666238"/>
                  </a:lnTo>
                  <a:lnTo>
                    <a:pt x="25400" y="2666238"/>
                  </a:lnTo>
                  <a:lnTo>
                    <a:pt x="50800" y="2666238"/>
                  </a:lnTo>
                  <a:cubicBezTo>
                    <a:pt x="50800" y="2786634"/>
                    <a:pt x="149606" y="2884678"/>
                    <a:pt x="272288" y="2884678"/>
                  </a:cubicBezTo>
                  <a:lnTo>
                    <a:pt x="9677527" y="2884678"/>
                  </a:lnTo>
                  <a:cubicBezTo>
                    <a:pt x="9800082" y="2884678"/>
                    <a:pt x="9899015" y="2786634"/>
                    <a:pt x="9899015" y="2666238"/>
                  </a:cubicBezTo>
                  <a:lnTo>
                    <a:pt x="9899015" y="269240"/>
                  </a:lnTo>
                  <a:cubicBezTo>
                    <a:pt x="9899015" y="148844"/>
                    <a:pt x="9800209" y="50800"/>
                    <a:pt x="9677527" y="50800"/>
                  </a:cubicBezTo>
                  <a:lnTo>
                    <a:pt x="272288" y="50800"/>
                  </a:lnTo>
                  <a:lnTo>
                    <a:pt x="272288" y="25400"/>
                  </a:lnTo>
                  <a:lnTo>
                    <a:pt x="272288" y="50800"/>
                  </a:lnTo>
                  <a:cubicBezTo>
                    <a:pt x="149606" y="50800"/>
                    <a:pt x="50800" y="148844"/>
                    <a:pt x="50800" y="269240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sp>
        <p:nvSpPr>
          <p:cNvPr id="15" name="TextBox 15"/>
          <p:cNvSpPr txBox="1"/>
          <p:nvPr/>
        </p:nvSpPr>
        <p:spPr>
          <a:xfrm>
            <a:off x="10320832" y="2650541"/>
            <a:ext cx="5681167" cy="409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Разработчики</a:t>
            </a:r>
            <a:r>
              <a:rPr lang="en-US" sz="275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75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прототипов</a:t>
            </a:r>
            <a:endParaRPr lang="en-US" sz="275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320833" y="3196885"/>
            <a:ext cx="6743700" cy="1012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Тем, кому не нужна тяжёлая инфраструктура нейронных сетей для начальной реализации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389893" y="5054327"/>
            <a:ext cx="7508205" cy="2795483"/>
            <a:chOff x="0" y="0"/>
            <a:chExt cx="10010940" cy="3727310"/>
          </a:xfrm>
        </p:grpSpPr>
        <p:sp>
          <p:nvSpPr>
            <p:cNvPr id="18" name="Freeform 18"/>
            <p:cNvSpPr/>
            <p:nvPr/>
          </p:nvSpPr>
          <p:spPr>
            <a:xfrm>
              <a:off x="25400" y="25400"/>
              <a:ext cx="9960102" cy="3676523"/>
            </a:xfrm>
            <a:custGeom>
              <a:avLst/>
              <a:gdLst/>
              <a:ahLst/>
              <a:cxnLst/>
              <a:rect l="l" t="t" r="r" b="b"/>
              <a:pathLst>
                <a:path w="9960102" h="3676523">
                  <a:moveTo>
                    <a:pt x="0" y="310769"/>
                  </a:moveTo>
                  <a:cubicBezTo>
                    <a:pt x="0" y="139192"/>
                    <a:pt x="140335" y="0"/>
                    <a:pt x="313436" y="0"/>
                  </a:cubicBezTo>
                  <a:lnTo>
                    <a:pt x="9646666" y="0"/>
                  </a:lnTo>
                  <a:cubicBezTo>
                    <a:pt x="9819767" y="0"/>
                    <a:pt x="9960102" y="139192"/>
                    <a:pt x="9960102" y="310769"/>
                  </a:cubicBezTo>
                  <a:lnTo>
                    <a:pt x="9960102" y="3365754"/>
                  </a:lnTo>
                  <a:cubicBezTo>
                    <a:pt x="9960102" y="3537331"/>
                    <a:pt x="9819767" y="3676523"/>
                    <a:pt x="9646666" y="3676523"/>
                  </a:cubicBezTo>
                  <a:lnTo>
                    <a:pt x="313436" y="3676523"/>
                  </a:lnTo>
                  <a:cubicBezTo>
                    <a:pt x="140335" y="3676523"/>
                    <a:pt x="0" y="3537331"/>
                    <a:pt x="0" y="3365754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9" name="Freeform 19"/>
            <p:cNvSpPr/>
            <p:nvPr/>
          </p:nvSpPr>
          <p:spPr>
            <a:xfrm>
              <a:off x="0" y="0"/>
              <a:ext cx="10010902" cy="3727323"/>
            </a:xfrm>
            <a:custGeom>
              <a:avLst/>
              <a:gdLst/>
              <a:ahLst/>
              <a:cxnLst/>
              <a:rect l="l" t="t" r="r" b="b"/>
              <a:pathLst>
                <a:path w="10010902" h="3727323">
                  <a:moveTo>
                    <a:pt x="0" y="336169"/>
                  </a:moveTo>
                  <a:cubicBezTo>
                    <a:pt x="0" y="150368"/>
                    <a:pt x="151892" y="0"/>
                    <a:pt x="338836" y="0"/>
                  </a:cubicBezTo>
                  <a:lnTo>
                    <a:pt x="9672066" y="0"/>
                  </a:lnTo>
                  <a:lnTo>
                    <a:pt x="9672066" y="25400"/>
                  </a:lnTo>
                  <a:lnTo>
                    <a:pt x="9672066" y="0"/>
                  </a:lnTo>
                  <a:cubicBezTo>
                    <a:pt x="9859011" y="0"/>
                    <a:pt x="10010902" y="150368"/>
                    <a:pt x="10010902" y="336169"/>
                  </a:cubicBezTo>
                  <a:lnTo>
                    <a:pt x="9985502" y="336169"/>
                  </a:lnTo>
                  <a:lnTo>
                    <a:pt x="10010902" y="336169"/>
                  </a:lnTo>
                  <a:lnTo>
                    <a:pt x="10010902" y="3391154"/>
                  </a:lnTo>
                  <a:lnTo>
                    <a:pt x="9985502" y="3391154"/>
                  </a:lnTo>
                  <a:lnTo>
                    <a:pt x="10010902" y="3391154"/>
                  </a:lnTo>
                  <a:cubicBezTo>
                    <a:pt x="10010902" y="3577082"/>
                    <a:pt x="9859011" y="3727323"/>
                    <a:pt x="9672066" y="3727323"/>
                  </a:cubicBezTo>
                  <a:lnTo>
                    <a:pt x="9672066" y="3701923"/>
                  </a:lnTo>
                  <a:lnTo>
                    <a:pt x="9672066" y="3727323"/>
                  </a:lnTo>
                  <a:lnTo>
                    <a:pt x="338836" y="3727323"/>
                  </a:lnTo>
                  <a:lnTo>
                    <a:pt x="338836" y="3701923"/>
                  </a:lnTo>
                  <a:lnTo>
                    <a:pt x="338836" y="3727323"/>
                  </a:lnTo>
                  <a:cubicBezTo>
                    <a:pt x="151892" y="3727323"/>
                    <a:pt x="0" y="3576955"/>
                    <a:pt x="0" y="3391154"/>
                  </a:cubicBezTo>
                  <a:lnTo>
                    <a:pt x="0" y="336169"/>
                  </a:lnTo>
                  <a:lnTo>
                    <a:pt x="25400" y="336169"/>
                  </a:lnTo>
                  <a:lnTo>
                    <a:pt x="0" y="336169"/>
                  </a:lnTo>
                  <a:moveTo>
                    <a:pt x="50800" y="336169"/>
                  </a:moveTo>
                  <a:lnTo>
                    <a:pt x="50800" y="3391154"/>
                  </a:lnTo>
                  <a:lnTo>
                    <a:pt x="25400" y="3391154"/>
                  </a:lnTo>
                  <a:lnTo>
                    <a:pt x="50800" y="3391154"/>
                  </a:lnTo>
                  <a:cubicBezTo>
                    <a:pt x="50800" y="3548507"/>
                    <a:pt x="179578" y="3676523"/>
                    <a:pt x="338836" y="3676523"/>
                  </a:cubicBezTo>
                  <a:lnTo>
                    <a:pt x="9672066" y="3676523"/>
                  </a:lnTo>
                  <a:cubicBezTo>
                    <a:pt x="9831324" y="3676523"/>
                    <a:pt x="9960102" y="3548507"/>
                    <a:pt x="9960102" y="3391154"/>
                  </a:cubicBezTo>
                  <a:lnTo>
                    <a:pt x="9960102" y="336169"/>
                  </a:lnTo>
                  <a:cubicBezTo>
                    <a:pt x="9960102" y="178816"/>
                    <a:pt x="9831324" y="50800"/>
                    <a:pt x="9672066" y="50800"/>
                  </a:cubicBezTo>
                  <a:lnTo>
                    <a:pt x="338836" y="50800"/>
                  </a:lnTo>
                  <a:lnTo>
                    <a:pt x="338836" y="25400"/>
                  </a:lnTo>
                  <a:lnTo>
                    <a:pt x="338836" y="50800"/>
                  </a:lnTo>
                  <a:cubicBezTo>
                    <a:pt x="179578" y="50800"/>
                    <a:pt x="50800" y="178816"/>
                    <a:pt x="50800" y="336169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5954762" y="5355565"/>
            <a:ext cx="4789437" cy="409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Исследователи</a:t>
            </a:r>
            <a:r>
              <a:rPr lang="en-US" sz="275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75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алгоритмов</a:t>
            </a:r>
            <a:endParaRPr lang="en-US" sz="275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5954763" y="5901909"/>
            <a:ext cx="6871002" cy="12610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Желающие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сравнить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эффективность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KD-Tree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относительно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линейного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перебора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в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поиске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ближайших</a:t>
            </a:r>
            <a:r>
              <a:rPr lang="en-US" sz="2187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187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соседей</a:t>
            </a:r>
            <a:endParaRPr lang="en-US" sz="2187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72445" y="742207"/>
            <a:ext cx="6892080" cy="838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25"/>
              </a:lnSpc>
            </a:pPr>
            <a:r>
              <a:rPr lang="en-US" sz="4875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Цель и задачи проекта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72445" y="2103682"/>
            <a:ext cx="3751212" cy="497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7"/>
              </a:lnSpc>
            </a:pPr>
            <a:r>
              <a:rPr lang="en-US" sz="2937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Цель проекта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72445" y="2745581"/>
            <a:ext cx="7866459" cy="1205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193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Разработать полностью рабочую систему распознавания цифр и простых геометрических фигур без использования готовых ML-библиотек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2445" y="4341047"/>
            <a:ext cx="4029370" cy="497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7"/>
              </a:lnSpc>
            </a:pPr>
            <a:r>
              <a:rPr lang="en-US" sz="2937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Поставленные задачи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72445" y="4982947"/>
            <a:ext cx="7866459" cy="2488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2199" lvl="1" indent="-146100" algn="l">
              <a:lnSpc>
                <a:spcPts val="2937"/>
              </a:lnSpc>
              <a:buFont typeface="Arial"/>
              <a:buChar char="•"/>
            </a:pPr>
            <a:r>
              <a:rPr lang="en-US" sz="193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Реализовать kNN и KD-Tree вручную на C#, изучить алгоритмическую сложность и ограничения</a:t>
            </a:r>
          </a:p>
          <a:p>
            <a:pPr marL="292199" lvl="1" indent="-146100" algn="l">
              <a:lnSpc>
                <a:spcPts val="2937"/>
              </a:lnSpc>
              <a:buFont typeface="Arial"/>
              <a:buChar char="•"/>
            </a:pPr>
            <a:r>
              <a:rPr lang="en-US" sz="193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Спроектировать базу данных PostgreSQL для хранения признаков как FLOAT8[]</a:t>
            </a:r>
          </a:p>
          <a:p>
            <a:pPr marL="292199" lvl="1" indent="-146100" algn="l">
              <a:lnSpc>
                <a:spcPts val="2937"/>
              </a:lnSpc>
              <a:buFont typeface="Arial"/>
              <a:buChar char="•"/>
            </a:pPr>
            <a:r>
              <a:rPr lang="en-US" sz="1937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Разработать WPF-интерфейс и проведение замеров времени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798614"/>
            <a:ext cx="16341700" cy="1651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49"/>
              </a:lnSpc>
            </a:pPr>
            <a:r>
              <a:rPr lang="en-US" sz="4999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Недостатки существующих решений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54062" y="3177626"/>
            <a:ext cx="4607871" cy="3407721"/>
            <a:chOff x="0" y="0"/>
            <a:chExt cx="6143828" cy="454362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143879" cy="4543679"/>
            </a:xfrm>
            <a:custGeom>
              <a:avLst/>
              <a:gdLst/>
              <a:ahLst/>
              <a:cxnLst/>
              <a:rect l="l" t="t" r="r" b="b"/>
              <a:pathLst>
                <a:path w="6143879" h="4543679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5960999" y="0"/>
                  </a:lnTo>
                  <a:cubicBezTo>
                    <a:pt x="6061964" y="0"/>
                    <a:pt x="6143879" y="81915"/>
                    <a:pt x="6143879" y="182880"/>
                  </a:cubicBezTo>
                  <a:lnTo>
                    <a:pt x="6143879" y="4360799"/>
                  </a:lnTo>
                  <a:cubicBezTo>
                    <a:pt x="6143879" y="4461764"/>
                    <a:pt x="6061964" y="4543679"/>
                    <a:pt x="5960999" y="4543679"/>
                  </a:cubicBezTo>
                  <a:lnTo>
                    <a:pt x="182880" y="4543679"/>
                  </a:lnTo>
                  <a:cubicBezTo>
                    <a:pt x="81915" y="4543679"/>
                    <a:pt x="0" y="4461764"/>
                    <a:pt x="0" y="4360799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1275902" y="3786930"/>
            <a:ext cx="4040534" cy="825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Линейный поиск — O(n) на запрос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75902" y="4674098"/>
            <a:ext cx="4040534" cy="1627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 тысячах обучающих примеров время ожидания становится критическим для пользователей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71786" y="3786930"/>
            <a:ext cx="4040686" cy="8257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ML-фреймворки — зависимость и сложность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971786" y="4674098"/>
            <a:ext cx="4040686" cy="1627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Проблемы версионирования, сложная настройка окружения, трудности объяснения на защите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22287" y="3786930"/>
            <a:ext cx="4189276" cy="3732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24"/>
              </a:lnSpc>
            </a:pPr>
            <a:r>
              <a:rPr lang="en-US" sz="2499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Учебные</a:t>
            </a:r>
            <a:r>
              <a:rPr lang="en-US" sz="2499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99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примеры</a:t>
            </a:r>
            <a:r>
              <a:rPr lang="en-US" sz="2499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99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99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Python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422324" y="4268114"/>
            <a:ext cx="4911614" cy="851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Отсутствие</a:t>
            </a: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полноценной</a:t>
            </a: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реализации</a:t>
            </a: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C# с </a:t>
            </a: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базой</a:t>
            </a: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данных</a:t>
            </a: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пользовательским</a:t>
            </a: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интерфейсом</a:t>
            </a:r>
            <a:endParaRPr lang="en-US" sz="20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13797"/>
            <a:ext cx="7010248" cy="908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25"/>
              </a:lnSpc>
            </a:pPr>
            <a:r>
              <a:rPr lang="en-US" sz="525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системы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2148183"/>
            <a:ext cx="16303523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Проект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построен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принципам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чистой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архитектуры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чётким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разделением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ответственностей</a:t>
            </a:r>
            <a:endParaRPr lang="en-US" sz="28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92238" y="3140774"/>
            <a:ext cx="3366935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32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UI (WPF)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3667325"/>
            <a:ext cx="14700942" cy="820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Загрузка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изображений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выбор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запуск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обучения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классификации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вывод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результатов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времени</a:t>
            </a:r>
            <a:endParaRPr lang="en-US" sz="28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992238" y="4756890"/>
            <a:ext cx="3366935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32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283451"/>
            <a:ext cx="14700942" cy="820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Сервисы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извлечения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признаков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(16×16, grayscale),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обучение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модели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классификация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изображений</a:t>
            </a:r>
            <a:endParaRPr lang="en-US" sz="28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92238" y="6373016"/>
            <a:ext cx="3366935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32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Domain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6899577"/>
            <a:ext cx="14700942" cy="820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KDNode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KDTree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KNearestNeighbors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DistanceCalculator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—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чистая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без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внешних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зависимостей</a:t>
            </a:r>
            <a:endParaRPr lang="en-US" sz="28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992238" y="7989141"/>
            <a:ext cx="3366935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32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Infrastructure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8515693"/>
            <a:ext cx="14700942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PostgreSQL,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Npgsql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таблицы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classes, images, features, models, experiments, predictions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13971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85838" y="734168"/>
            <a:ext cx="8634194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4800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Взаимодействие</a:t>
            </a:r>
            <a:r>
              <a:rPr lang="en-US" sz="4800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4800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компонентов</a:t>
            </a:r>
            <a:endParaRPr lang="en-US" sz="4800" dirty="0">
              <a:solidFill>
                <a:srgbClr val="091C5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950421" y="4987833"/>
            <a:ext cx="16316325" cy="19050"/>
            <a:chOff x="0" y="0"/>
            <a:chExt cx="21755100" cy="25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755100" cy="25400"/>
            </a:xfrm>
            <a:custGeom>
              <a:avLst/>
              <a:gdLst/>
              <a:ahLst/>
              <a:cxnLst/>
              <a:rect l="l" t="t" r="r" b="b"/>
              <a:pathLst>
                <a:path w="21755100" h="25400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lnTo>
                    <a:pt x="21742400" y="0"/>
                  </a:lnTo>
                  <a:cubicBezTo>
                    <a:pt x="21749386" y="0"/>
                    <a:pt x="21755100" y="5715"/>
                    <a:pt x="21755100" y="12700"/>
                  </a:cubicBezTo>
                  <a:cubicBezTo>
                    <a:pt x="21755100" y="19685"/>
                    <a:pt x="21749386" y="25400"/>
                    <a:pt x="21742400" y="25400"/>
                  </a:cubicBezTo>
                  <a:lnTo>
                    <a:pt x="12700" y="25400"/>
                  </a:lnTo>
                  <a:cubicBezTo>
                    <a:pt x="5715" y="25400"/>
                    <a:pt x="0" y="19685"/>
                    <a:pt x="0" y="12700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4159755" y="4438507"/>
            <a:ext cx="19050" cy="549326"/>
            <a:chOff x="0" y="0"/>
            <a:chExt cx="25400" cy="73243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5400" cy="732409"/>
            </a:xfrm>
            <a:custGeom>
              <a:avLst/>
              <a:gdLst/>
              <a:ahLst/>
              <a:cxnLst/>
              <a:rect l="l" t="t" r="r" b="b"/>
              <a:pathLst>
                <a:path w="25400" h="732409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cubicBezTo>
                    <a:pt x="19685" y="0"/>
                    <a:pt x="25400" y="5715"/>
                    <a:pt x="25400" y="12700"/>
                  </a:cubicBezTo>
                  <a:lnTo>
                    <a:pt x="25400" y="719709"/>
                  </a:lnTo>
                  <a:cubicBezTo>
                    <a:pt x="25400" y="726694"/>
                    <a:pt x="19685" y="732409"/>
                    <a:pt x="12700" y="732409"/>
                  </a:cubicBezTo>
                  <a:cubicBezTo>
                    <a:pt x="5715" y="732409"/>
                    <a:pt x="0" y="726694"/>
                    <a:pt x="0" y="719709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3963292" y="4781854"/>
            <a:ext cx="411956" cy="411956"/>
            <a:chOff x="0" y="0"/>
            <a:chExt cx="549275" cy="5492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49275" cy="549275"/>
            </a:xfrm>
            <a:custGeom>
              <a:avLst/>
              <a:gdLst/>
              <a:ahLst/>
              <a:cxnLst/>
              <a:rect l="l" t="t" r="r" b="b"/>
              <a:pathLst>
                <a:path w="549275" h="549275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329565" y="0"/>
                  </a:lnTo>
                  <a:cubicBezTo>
                    <a:pt x="450977" y="0"/>
                    <a:pt x="549275" y="98425"/>
                    <a:pt x="549275" y="219710"/>
                  </a:cubicBezTo>
                  <a:lnTo>
                    <a:pt x="549275" y="329565"/>
                  </a:lnTo>
                  <a:cubicBezTo>
                    <a:pt x="549275" y="450977"/>
                    <a:pt x="450850" y="549275"/>
                    <a:pt x="329565" y="549275"/>
                  </a:cubicBezTo>
                  <a:lnTo>
                    <a:pt x="219710" y="549275"/>
                  </a:lnTo>
                  <a:cubicBezTo>
                    <a:pt x="98425" y="549275"/>
                    <a:pt x="0" y="450850"/>
                    <a:pt x="0" y="329565"/>
                  </a:cubicBezTo>
                  <a:close/>
                </a:path>
              </a:pathLst>
            </a:custGeom>
            <a:solidFill>
              <a:srgbClr val="CEE6FD"/>
            </a:solidFill>
          </p:spPr>
        </p:sp>
      </p:grpSp>
      <p:sp>
        <p:nvSpPr>
          <p:cNvPr id="13" name="TextBox 13"/>
          <p:cNvSpPr txBox="1"/>
          <p:nvPr/>
        </p:nvSpPr>
        <p:spPr>
          <a:xfrm>
            <a:off x="4031977" y="4835280"/>
            <a:ext cx="274587" cy="274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64118" y="3246274"/>
            <a:ext cx="4629374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9"/>
              </a:lnSpc>
            </a:pPr>
            <a:r>
              <a:rPr lang="en-US" sz="32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Пользовательский</a:t>
            </a:r>
            <a:r>
              <a:rPr lang="en-US" sz="32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2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ввод</a:t>
            </a:r>
            <a:endParaRPr lang="en-US" sz="32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33400" y="3505835"/>
            <a:ext cx="6071740" cy="1215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Загрузка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изображения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через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UI-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интерфейс</a:t>
            </a:r>
            <a:endParaRPr lang="en-US" sz="28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7452576" y="4987833"/>
            <a:ext cx="19050" cy="549326"/>
            <a:chOff x="0" y="0"/>
            <a:chExt cx="25400" cy="73243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5400" cy="732409"/>
            </a:xfrm>
            <a:custGeom>
              <a:avLst/>
              <a:gdLst/>
              <a:ahLst/>
              <a:cxnLst/>
              <a:rect l="l" t="t" r="r" b="b"/>
              <a:pathLst>
                <a:path w="25400" h="732409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cubicBezTo>
                    <a:pt x="19685" y="0"/>
                    <a:pt x="25400" y="5715"/>
                    <a:pt x="25400" y="12700"/>
                  </a:cubicBezTo>
                  <a:lnTo>
                    <a:pt x="25400" y="719709"/>
                  </a:lnTo>
                  <a:cubicBezTo>
                    <a:pt x="25400" y="726694"/>
                    <a:pt x="19685" y="732409"/>
                    <a:pt x="12700" y="732409"/>
                  </a:cubicBezTo>
                  <a:cubicBezTo>
                    <a:pt x="5715" y="732409"/>
                    <a:pt x="0" y="726694"/>
                    <a:pt x="0" y="719709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7256123" y="4781854"/>
            <a:ext cx="411956" cy="411956"/>
            <a:chOff x="0" y="0"/>
            <a:chExt cx="549275" cy="54927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49275" cy="549275"/>
            </a:xfrm>
            <a:custGeom>
              <a:avLst/>
              <a:gdLst/>
              <a:ahLst/>
              <a:cxnLst/>
              <a:rect l="l" t="t" r="r" b="b"/>
              <a:pathLst>
                <a:path w="549275" h="549275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329565" y="0"/>
                  </a:lnTo>
                  <a:cubicBezTo>
                    <a:pt x="450977" y="0"/>
                    <a:pt x="549275" y="98425"/>
                    <a:pt x="549275" y="219710"/>
                  </a:cubicBezTo>
                  <a:lnTo>
                    <a:pt x="549275" y="329565"/>
                  </a:lnTo>
                  <a:cubicBezTo>
                    <a:pt x="549275" y="450977"/>
                    <a:pt x="450850" y="549275"/>
                    <a:pt x="329565" y="549275"/>
                  </a:cubicBezTo>
                  <a:lnTo>
                    <a:pt x="219710" y="549275"/>
                  </a:lnTo>
                  <a:cubicBezTo>
                    <a:pt x="98425" y="549275"/>
                    <a:pt x="0" y="450850"/>
                    <a:pt x="0" y="329565"/>
                  </a:cubicBezTo>
                  <a:close/>
                </a:path>
              </a:pathLst>
            </a:custGeom>
            <a:solidFill>
              <a:srgbClr val="CEE6FD"/>
            </a:solidFill>
          </p:spPr>
        </p:sp>
      </p:grpSp>
      <p:sp>
        <p:nvSpPr>
          <p:cNvPr id="20" name="TextBox 20"/>
          <p:cNvSpPr txBox="1"/>
          <p:nvPr/>
        </p:nvSpPr>
        <p:spPr>
          <a:xfrm>
            <a:off x="7324808" y="4835280"/>
            <a:ext cx="274587" cy="274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209548" y="5644636"/>
            <a:ext cx="4486056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9"/>
              </a:lnSpc>
            </a:pPr>
            <a:r>
              <a:rPr lang="en-US" sz="32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Обработка</a:t>
            </a:r>
            <a:r>
              <a:rPr lang="en-US" sz="32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2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приложения</a:t>
            </a:r>
            <a:endParaRPr lang="en-US" sz="32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435756" y="6067673"/>
            <a:ext cx="6071740" cy="1215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вызывает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сервисы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извлечения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признаков</a:t>
            </a:r>
            <a:endParaRPr lang="en-US" sz="28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pSp>
        <p:nvGrpSpPr>
          <p:cNvPr id="23" name="Group 23"/>
          <p:cNvGrpSpPr/>
          <p:nvPr/>
        </p:nvGrpSpPr>
        <p:grpSpPr>
          <a:xfrm>
            <a:off x="10745397" y="4438507"/>
            <a:ext cx="19050" cy="549326"/>
            <a:chOff x="0" y="0"/>
            <a:chExt cx="25400" cy="73243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5400" cy="732409"/>
            </a:xfrm>
            <a:custGeom>
              <a:avLst/>
              <a:gdLst/>
              <a:ahLst/>
              <a:cxnLst/>
              <a:rect l="l" t="t" r="r" b="b"/>
              <a:pathLst>
                <a:path w="25400" h="732409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cubicBezTo>
                    <a:pt x="19685" y="0"/>
                    <a:pt x="25400" y="5715"/>
                    <a:pt x="25400" y="12700"/>
                  </a:cubicBezTo>
                  <a:lnTo>
                    <a:pt x="25400" y="719709"/>
                  </a:lnTo>
                  <a:cubicBezTo>
                    <a:pt x="25400" y="726694"/>
                    <a:pt x="19685" y="732409"/>
                    <a:pt x="12700" y="732409"/>
                  </a:cubicBezTo>
                  <a:cubicBezTo>
                    <a:pt x="5715" y="732409"/>
                    <a:pt x="0" y="726694"/>
                    <a:pt x="0" y="719709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0548944" y="4781854"/>
            <a:ext cx="411956" cy="411956"/>
            <a:chOff x="0" y="0"/>
            <a:chExt cx="549275" cy="54927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49275" cy="549275"/>
            </a:xfrm>
            <a:custGeom>
              <a:avLst/>
              <a:gdLst/>
              <a:ahLst/>
              <a:cxnLst/>
              <a:rect l="l" t="t" r="r" b="b"/>
              <a:pathLst>
                <a:path w="549275" h="549275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329565" y="0"/>
                  </a:lnTo>
                  <a:cubicBezTo>
                    <a:pt x="450977" y="0"/>
                    <a:pt x="549275" y="98425"/>
                    <a:pt x="549275" y="219710"/>
                  </a:cubicBezTo>
                  <a:lnTo>
                    <a:pt x="549275" y="329565"/>
                  </a:lnTo>
                  <a:cubicBezTo>
                    <a:pt x="549275" y="450977"/>
                    <a:pt x="450850" y="549275"/>
                    <a:pt x="329565" y="549275"/>
                  </a:cubicBezTo>
                  <a:lnTo>
                    <a:pt x="219710" y="549275"/>
                  </a:lnTo>
                  <a:cubicBezTo>
                    <a:pt x="98425" y="549275"/>
                    <a:pt x="0" y="450850"/>
                    <a:pt x="0" y="329565"/>
                  </a:cubicBezTo>
                  <a:close/>
                </a:path>
              </a:pathLst>
            </a:custGeom>
            <a:solidFill>
              <a:srgbClr val="CEE6FD"/>
            </a:solidFill>
          </p:spPr>
        </p:sp>
      </p:grpSp>
      <p:sp>
        <p:nvSpPr>
          <p:cNvPr id="27" name="TextBox 27"/>
          <p:cNvSpPr txBox="1"/>
          <p:nvPr/>
        </p:nvSpPr>
        <p:spPr>
          <a:xfrm>
            <a:off x="10617629" y="4835280"/>
            <a:ext cx="274587" cy="274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20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268913" y="3207149"/>
            <a:ext cx="2952968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49"/>
              </a:lnSpc>
            </a:pPr>
            <a:r>
              <a:rPr lang="en-US" sz="32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Вызов</a:t>
            </a:r>
            <a:r>
              <a:rPr lang="en-US" sz="32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2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домена</a:t>
            </a:r>
            <a:endParaRPr lang="en-US" sz="32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736764" y="3544147"/>
            <a:ext cx="6071740" cy="1215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Domain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выполняет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классификацию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помощью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KD-Tree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4038218" y="4987833"/>
            <a:ext cx="19050" cy="549326"/>
            <a:chOff x="0" y="0"/>
            <a:chExt cx="25400" cy="73243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5400" cy="732409"/>
            </a:xfrm>
            <a:custGeom>
              <a:avLst/>
              <a:gdLst/>
              <a:ahLst/>
              <a:cxnLst/>
              <a:rect l="l" t="t" r="r" b="b"/>
              <a:pathLst>
                <a:path w="25400" h="732409">
                  <a:moveTo>
                    <a:pt x="0" y="12700"/>
                  </a:moveTo>
                  <a:cubicBezTo>
                    <a:pt x="0" y="5715"/>
                    <a:pt x="5715" y="0"/>
                    <a:pt x="12700" y="0"/>
                  </a:cubicBezTo>
                  <a:cubicBezTo>
                    <a:pt x="19685" y="0"/>
                    <a:pt x="25400" y="5715"/>
                    <a:pt x="25400" y="12700"/>
                  </a:cubicBezTo>
                  <a:lnTo>
                    <a:pt x="25400" y="719709"/>
                  </a:lnTo>
                  <a:cubicBezTo>
                    <a:pt x="25400" y="726694"/>
                    <a:pt x="19685" y="732409"/>
                    <a:pt x="12700" y="732409"/>
                  </a:cubicBezTo>
                  <a:cubicBezTo>
                    <a:pt x="5715" y="732409"/>
                    <a:pt x="0" y="726694"/>
                    <a:pt x="0" y="719709"/>
                  </a:cubicBezTo>
                  <a:close/>
                </a:path>
              </a:pathLst>
            </a:custGeom>
            <a:solidFill>
              <a:srgbClr val="B4CCE3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13841765" y="4781854"/>
            <a:ext cx="411956" cy="411956"/>
            <a:chOff x="0" y="0"/>
            <a:chExt cx="549275" cy="54927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549275" cy="549275"/>
            </a:xfrm>
            <a:custGeom>
              <a:avLst/>
              <a:gdLst/>
              <a:ahLst/>
              <a:cxnLst/>
              <a:rect l="l" t="t" r="r" b="b"/>
              <a:pathLst>
                <a:path w="549275" h="549275">
                  <a:moveTo>
                    <a:pt x="0" y="219710"/>
                  </a:moveTo>
                  <a:cubicBezTo>
                    <a:pt x="0" y="98425"/>
                    <a:pt x="98425" y="0"/>
                    <a:pt x="219710" y="0"/>
                  </a:cubicBezTo>
                  <a:lnTo>
                    <a:pt x="329565" y="0"/>
                  </a:lnTo>
                  <a:cubicBezTo>
                    <a:pt x="450977" y="0"/>
                    <a:pt x="549275" y="98425"/>
                    <a:pt x="549275" y="219710"/>
                  </a:cubicBezTo>
                  <a:lnTo>
                    <a:pt x="549275" y="329565"/>
                  </a:lnTo>
                  <a:cubicBezTo>
                    <a:pt x="549275" y="450977"/>
                    <a:pt x="450850" y="549275"/>
                    <a:pt x="329565" y="549275"/>
                  </a:cubicBezTo>
                  <a:lnTo>
                    <a:pt x="219710" y="549275"/>
                  </a:lnTo>
                  <a:cubicBezTo>
                    <a:pt x="98425" y="549275"/>
                    <a:pt x="0" y="450850"/>
                    <a:pt x="0" y="329565"/>
                  </a:cubicBezTo>
                  <a:close/>
                </a:path>
              </a:pathLst>
            </a:custGeom>
            <a:solidFill>
              <a:srgbClr val="CEE6FD"/>
            </a:solidFill>
          </p:spPr>
        </p:sp>
      </p:grpSp>
      <p:sp>
        <p:nvSpPr>
          <p:cNvPr id="34" name="TextBox 34"/>
          <p:cNvSpPr txBox="1"/>
          <p:nvPr/>
        </p:nvSpPr>
        <p:spPr>
          <a:xfrm>
            <a:off x="13910450" y="4835280"/>
            <a:ext cx="274587" cy="274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24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912853" y="5586421"/>
            <a:ext cx="2288829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9"/>
              </a:lnSpc>
            </a:pPr>
            <a:r>
              <a:rPr lang="en-US" sz="32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Результат</a:t>
            </a:r>
            <a:endParaRPr lang="en-US" sz="32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11002348" y="5976306"/>
            <a:ext cx="6071740" cy="1215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Возврат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результата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классификации</a:t>
            </a:r>
            <a:r>
              <a:rPr lang="en-US" sz="2800" dirty="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пользователю</a:t>
            </a:r>
            <a:endParaRPr lang="en-US" sz="2800" dirty="0">
              <a:solidFill>
                <a:srgbClr val="1E306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867518"/>
            <a:ext cx="8814197" cy="908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25"/>
              </a:lnSpc>
            </a:pPr>
            <a:r>
              <a:rPr lang="en-US" sz="525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Используемые технологии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2121694"/>
            <a:ext cx="3366935" cy="4588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625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C#, .NET, WPF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2648245"/>
            <a:ext cx="8452399" cy="926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062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Основной стек разработки приложения с графическим интерфейсом пользователя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047830"/>
            <a:ext cx="3366935" cy="4588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625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PostgreSQL, Npgsql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238" y="4574381"/>
            <a:ext cx="8452399" cy="926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062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Хранение классов, изображений, векторов признаков, экспериментов и результатов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973966"/>
            <a:ext cx="3366935" cy="4588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625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System.Drawing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238" y="6500517"/>
            <a:ext cx="8452399" cy="926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062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Загрузка и преобразование изображений (resize, grayscale, нормализация)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7900092"/>
            <a:ext cx="3366935" cy="4588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625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kNN и KD-Tree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238" y="8426653"/>
            <a:ext cx="8452399" cy="926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062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Полностью реализованы вручную без ML.NET и других ML-библиотек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31E7078-FEFE-432F-85ED-98D9C2C13A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36" y="2061641"/>
            <a:ext cx="16334927" cy="6163717"/>
          </a:xfrm>
          <a:prstGeom prst="rect">
            <a:avLst/>
          </a:prstGeom>
        </p:spPr>
      </p:pic>
      <p:sp>
        <p:nvSpPr>
          <p:cNvPr id="2" name="TextBox 8">
            <a:extLst>
              <a:ext uri="{FF2B5EF4-FFF2-40B4-BE49-F238E27FC236}">
                <a16:creationId xmlns:a16="http://schemas.microsoft.com/office/drawing/2014/main" id="{AE379806-F34A-A511-142F-B48AB72391D3}"/>
              </a:ext>
            </a:extLst>
          </p:cNvPr>
          <p:cNvSpPr txBox="1"/>
          <p:nvPr/>
        </p:nvSpPr>
        <p:spPr>
          <a:xfrm>
            <a:off x="6656412" y="571500"/>
            <a:ext cx="4975174" cy="58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75"/>
              </a:lnSpc>
            </a:pPr>
            <a:r>
              <a:rPr lang="en-US" sz="3875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Диаграммы</a:t>
            </a:r>
            <a:r>
              <a:rPr lang="en-US" sz="3875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875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системы</a:t>
            </a:r>
            <a:endParaRPr lang="en-US" sz="3875" dirty="0">
              <a:solidFill>
                <a:srgbClr val="091C5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91939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813F1D-DCB9-FA2C-1E6D-FF4C2C4EE9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117" y="895712"/>
            <a:ext cx="10621766" cy="8495575"/>
          </a:xfrm>
          <a:prstGeom prst="rect">
            <a:avLst/>
          </a:prstGeom>
        </p:spPr>
      </p:pic>
      <p:sp>
        <p:nvSpPr>
          <p:cNvPr id="2" name="TextBox 8">
            <a:extLst>
              <a:ext uri="{FF2B5EF4-FFF2-40B4-BE49-F238E27FC236}">
                <a16:creationId xmlns:a16="http://schemas.microsoft.com/office/drawing/2014/main" id="{10B3E3CF-5F84-9727-C3ED-E7BFD2231A12}"/>
              </a:ext>
            </a:extLst>
          </p:cNvPr>
          <p:cNvSpPr txBox="1"/>
          <p:nvPr/>
        </p:nvSpPr>
        <p:spPr>
          <a:xfrm>
            <a:off x="6656413" y="275253"/>
            <a:ext cx="4975174" cy="58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75"/>
              </a:lnSpc>
            </a:pPr>
            <a:r>
              <a:rPr lang="en-US" sz="3875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Диаграммы</a:t>
            </a:r>
            <a:r>
              <a:rPr lang="en-US" sz="3875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875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системы</a:t>
            </a:r>
            <a:endParaRPr lang="en-US" sz="3875" dirty="0">
              <a:solidFill>
                <a:srgbClr val="091C5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16206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0E53F90-7E8D-AB8C-E87E-4FDA02E8D04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092616"/>
            <a:ext cx="7924800" cy="8101767"/>
          </a:xfrm>
          <a:prstGeom prst="rect">
            <a:avLst/>
          </a:prstGeom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E46607A4-9DD2-1480-5CD3-77D47913633E}"/>
              </a:ext>
            </a:extLst>
          </p:cNvPr>
          <p:cNvSpPr txBox="1"/>
          <p:nvPr/>
        </p:nvSpPr>
        <p:spPr>
          <a:xfrm>
            <a:off x="6656413" y="266700"/>
            <a:ext cx="4975174" cy="58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75"/>
              </a:lnSpc>
            </a:pPr>
            <a:r>
              <a:rPr lang="en-US" sz="3875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Er</a:t>
            </a:r>
            <a:r>
              <a:rPr lang="ru-RU" sz="3875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диаграмма </a:t>
            </a:r>
            <a:r>
              <a:rPr lang="ru-RU" sz="3875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бд</a:t>
            </a:r>
            <a:endParaRPr lang="en-US" sz="3875" dirty="0">
              <a:solidFill>
                <a:srgbClr val="091C5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99276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511-74C9-3E81-FEA1-387AFF25B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8">
            <a:extLst>
              <a:ext uri="{FF2B5EF4-FFF2-40B4-BE49-F238E27FC236}">
                <a16:creationId xmlns:a16="http://schemas.microsoft.com/office/drawing/2014/main" id="{5FEEB944-F2BE-1525-9D5C-80CE1BBF4B2F}"/>
              </a:ext>
            </a:extLst>
          </p:cNvPr>
          <p:cNvSpPr txBox="1"/>
          <p:nvPr/>
        </p:nvSpPr>
        <p:spPr>
          <a:xfrm>
            <a:off x="6656413" y="266700"/>
            <a:ext cx="4975174" cy="58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75"/>
              </a:lnSpc>
            </a:pPr>
            <a:r>
              <a:rPr lang="en-US" sz="3875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Use-case </a:t>
            </a:r>
            <a:r>
              <a:rPr lang="ru-RU" sz="3875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диаграмма</a:t>
            </a:r>
            <a:endParaRPr lang="en-US" sz="3875" dirty="0">
              <a:solidFill>
                <a:srgbClr val="091C5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9128E4A-A3F9-1D1B-946C-75B53FEBB01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068" y="984712"/>
            <a:ext cx="12271864" cy="930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481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EEEF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992238" y="984199"/>
            <a:ext cx="11892258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80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Основные алгоритмы и процесс обработки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238" y="1765402"/>
            <a:ext cx="5990187" cy="531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7"/>
              </a:lnSpc>
            </a:pPr>
            <a:r>
              <a:rPr lang="en-US" sz="360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Алгоритмы классификации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47623" y="2878931"/>
            <a:ext cx="3937997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4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kNN (k-ближайших соседей)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7623" y="3303984"/>
            <a:ext cx="4802686" cy="9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Находим k ближайших точек в пространстве признаков по евклидову расстоянию, выбираем класс методом голосования большинством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742509" y="2878931"/>
            <a:ext cx="3758651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4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KD-Tree (k-мерное дерево)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742509" y="3303984"/>
            <a:ext cx="4802829" cy="9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Строим бинарное дерево по медиане по оси, на каждом уровне меняем ось разбиения. Поиск с отсечением ветвей для ускорения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237539" y="2878931"/>
            <a:ext cx="3111703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4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Евклидово расстояние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237539" y="3303984"/>
            <a:ext cx="4802829" cy="63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Стандартная метрика для kNN: </a:t>
            </a:r>
            <a:r>
              <a:rPr lang="en-US" i="1">
                <a:solidFill>
                  <a:srgbClr val="1E3063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\sqrt{\sum_{i=1}^{n}(a_i - b_i)^2}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2237539" y="3718770"/>
            <a:ext cx="1591266" cy="283664"/>
            <a:chOff x="0" y="0"/>
            <a:chExt cx="2121687" cy="378219"/>
          </a:xfrm>
        </p:grpSpPr>
        <p:sp>
          <p:nvSpPr>
            <p:cNvPr id="15" name="Freeform 15" descr="preencoded.png"/>
            <p:cNvSpPr/>
            <p:nvPr/>
          </p:nvSpPr>
          <p:spPr>
            <a:xfrm>
              <a:off x="0" y="0"/>
              <a:ext cx="2121662" cy="378206"/>
            </a:xfrm>
            <a:custGeom>
              <a:avLst/>
              <a:gdLst/>
              <a:ahLst/>
              <a:cxnLst/>
              <a:rect l="l" t="t" r="r" b="b"/>
              <a:pathLst>
                <a:path w="2121662" h="378206">
                  <a:moveTo>
                    <a:pt x="0" y="0"/>
                  </a:moveTo>
                  <a:lnTo>
                    <a:pt x="2121662" y="0"/>
                  </a:lnTo>
                  <a:lnTo>
                    <a:pt x="2121662" y="378206"/>
                  </a:lnTo>
                  <a:lnTo>
                    <a:pt x="0" y="3782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86" r="-1" b="-389"/>
              </a:stretch>
            </a:blipFill>
          </p:spPr>
        </p:sp>
      </p:grpSp>
      <p:sp>
        <p:nvSpPr>
          <p:cNvPr id="16" name="TextBox 16"/>
          <p:cNvSpPr txBox="1"/>
          <p:nvPr/>
        </p:nvSpPr>
        <p:spPr>
          <a:xfrm>
            <a:off x="5313455" y="5575375"/>
            <a:ext cx="7372502" cy="5313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7"/>
              </a:lnSpc>
            </a:pPr>
            <a:r>
              <a:rPr lang="en-US" sz="3600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Процесс</a:t>
            </a:r>
            <a:r>
              <a:rPr lang="en-US" sz="3600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600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обработки</a:t>
            </a:r>
            <a:r>
              <a:rPr lang="en-US" sz="3600" dirty="0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600" dirty="0" err="1">
                <a:solidFill>
                  <a:srgbClr val="091C5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изображения</a:t>
            </a:r>
            <a:endParaRPr lang="en-US" sz="3600" dirty="0">
              <a:solidFill>
                <a:srgbClr val="091C5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47623" y="6530511"/>
            <a:ext cx="4065832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4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Загрузка и масштабирование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47623" y="6955565"/>
            <a:ext cx="4859836" cy="9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System.Drawing.Bitmap загружает изображение и масштабирует до 16×16 пикселей для унификации размера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42509" y="6547752"/>
            <a:ext cx="2835326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4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Перевод в grayscale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42509" y="6972805"/>
            <a:ext cx="4859979" cy="9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Конвертация RGB в оттенки серого: </a:t>
            </a:r>
            <a:r>
              <a:rPr lang="en-US" i="1">
                <a:solidFill>
                  <a:srgbClr val="1E3063"/>
                </a:solidFill>
                <a:latin typeface="Times New Roman Italics"/>
                <a:ea typeface="Times New Roman Italics"/>
                <a:cs typeface="Times New Roman Italics"/>
                <a:sym typeface="Times New Roman Italics"/>
              </a:rPr>
              <a:t>0.299R + 0.587G + 0.114B</a:t>
            </a:r>
            <a:r>
              <a:rPr lang="en-US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 нормализацией в диапазон [0, 1]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237539" y="6530511"/>
            <a:ext cx="2835326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0"/>
              </a:lnSpc>
            </a:pPr>
            <a:r>
              <a:rPr lang="en-US" sz="2400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Вектор признаков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237539" y="6955565"/>
            <a:ext cx="4859979" cy="9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>
                <a:solidFill>
                  <a:srgbClr val="1E306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256 значений — по одному на каждый пиксель, записанные построчно в массив FLOAT8[] для хранения в PostgreSQL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627</Words>
  <Application>Microsoft Office PowerPoint</Application>
  <PresentationFormat>Произвольный</PresentationFormat>
  <Paragraphs>114</Paragraphs>
  <Slides>13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Times New Roman</vt:lpstr>
      <vt:lpstr>Calibri</vt:lpstr>
      <vt:lpstr>Arial</vt:lpstr>
      <vt:lpstr>Times New Roman Italics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Raspoznavanie-izobrazhenij-s-pomoshyu-kNN-i-KD-Tree.pptx</dc:title>
  <dc:creator>Dmitry</dc:creator>
  <cp:lastModifiedBy>Dmitry</cp:lastModifiedBy>
  <cp:revision>3</cp:revision>
  <dcterms:created xsi:type="dcterms:W3CDTF">2006-08-16T00:00:00Z</dcterms:created>
  <dcterms:modified xsi:type="dcterms:W3CDTF">2026-03-10T21:01:20Z</dcterms:modified>
  <dc:identifier>DAHDlNsHA-4</dc:identifier>
</cp:coreProperties>
</file>