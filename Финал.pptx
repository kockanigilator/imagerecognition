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65" r:id="rId14"/>
  </p:sldIdLst>
  <p:sldSz cx="18288000" cy="10287000"/>
  <p:notesSz cx="6858000" cy="9144000"/>
  <p:embeddedFontLst>
    <p:embeddedFont>
      <p:font typeface="Times New Roman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8740" y="528504"/>
            <a:ext cx="15590520" cy="1915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Министерство науки и высшего образования Российской Федерации 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Федеральное государственное бюджетное образовательное учреждение 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высшего образования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«Тверской государственный технический университет» 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(ТвГТУ) 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Программного обеспечения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5512" y="4156148"/>
            <a:ext cx="16196986" cy="166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Курсовая работа </a:t>
            </a:r>
          </a:p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тему: «Разработка программной системы распознавания изображений на основе алгоритма k-ближайших соседей с использованием k-мерного дерева»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426582" y="7536218"/>
            <a:ext cx="5393912" cy="189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Выполнил: Лёвкин Д.А.</a:t>
            </a:r>
          </a:p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Группа: Б.ПИН.ИИ.24.16</a:t>
            </a:r>
          </a:p>
          <a:p>
            <a:pPr algn="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Проверил: Мальков А.А.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847259"/>
            <a:ext cx="7241381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задачи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1666" y="3435829"/>
            <a:ext cx="467841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Базовая задача компьютерного зрения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1666" y="4425086"/>
            <a:ext cx="4678413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Распознавание изображений лежит в основе OCR, детекции объектов, классификации и анализа визуальной информации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0633" y="3435829"/>
            <a:ext cx="467841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реальных систем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10633" y="4425086"/>
            <a:ext cx="4678413" cy="191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Контроль доступа, сканеры документов, медицинская диагностика — все требуют быстрых и объяснимых методов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39590" y="3435829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Понимание изнутри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39590" y="3982174"/>
            <a:ext cx="4678413" cy="237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Готовые ML-решения (TensorFlow, scikit-learn) работают как «чёрный ящик» — важно понимать алгоритмы детально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846140" y="750760"/>
            <a:ext cx="7088238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Целевая аудитория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3188" y="2342617"/>
            <a:ext cx="7569727" cy="2201618"/>
            <a:chOff x="0" y="0"/>
            <a:chExt cx="10092969" cy="2935491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10042144" cy="2884678"/>
            </a:xfrm>
            <a:custGeom>
              <a:avLst/>
              <a:gdLst/>
              <a:ahLst/>
              <a:cxnLst/>
              <a:rect l="l" t="t" r="r" b="b"/>
              <a:pathLst>
                <a:path w="10042144" h="2884678">
                  <a:moveTo>
                    <a:pt x="0" y="243840"/>
                  </a:moveTo>
                  <a:cubicBezTo>
                    <a:pt x="0" y="109220"/>
                    <a:pt x="110490" y="0"/>
                    <a:pt x="246888" y="0"/>
                  </a:cubicBezTo>
                  <a:lnTo>
                    <a:pt x="9795256" y="0"/>
                  </a:lnTo>
                  <a:cubicBezTo>
                    <a:pt x="9931654" y="0"/>
                    <a:pt x="10042144" y="109220"/>
                    <a:pt x="10042144" y="243840"/>
                  </a:cubicBezTo>
                  <a:lnTo>
                    <a:pt x="10042144" y="2640838"/>
                  </a:lnTo>
                  <a:cubicBezTo>
                    <a:pt x="10042144" y="2775458"/>
                    <a:pt x="9931654" y="2884678"/>
                    <a:pt x="9795256" y="2884678"/>
                  </a:cubicBezTo>
                  <a:lnTo>
                    <a:pt x="246888" y="2884678"/>
                  </a:lnTo>
                  <a:cubicBezTo>
                    <a:pt x="110490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0092944" cy="2935478"/>
            </a:xfrm>
            <a:custGeom>
              <a:avLst/>
              <a:gdLst/>
              <a:ahLst/>
              <a:cxnLst/>
              <a:rect l="l" t="t" r="r" b="b"/>
              <a:pathLst>
                <a:path w="10092944" h="2935478">
                  <a:moveTo>
                    <a:pt x="0" y="269240"/>
                  </a:moveTo>
                  <a:cubicBezTo>
                    <a:pt x="0" y="120269"/>
                    <a:pt x="122174" y="0"/>
                    <a:pt x="272288" y="0"/>
                  </a:cubicBezTo>
                  <a:lnTo>
                    <a:pt x="9820656" y="0"/>
                  </a:lnTo>
                  <a:lnTo>
                    <a:pt x="9820656" y="25400"/>
                  </a:lnTo>
                  <a:lnTo>
                    <a:pt x="9820656" y="0"/>
                  </a:lnTo>
                  <a:cubicBezTo>
                    <a:pt x="9970770" y="0"/>
                    <a:pt x="10092944" y="120269"/>
                    <a:pt x="10092944" y="269240"/>
                  </a:cubicBezTo>
                  <a:lnTo>
                    <a:pt x="10067544" y="269240"/>
                  </a:lnTo>
                  <a:lnTo>
                    <a:pt x="10092944" y="269240"/>
                  </a:lnTo>
                  <a:lnTo>
                    <a:pt x="10092944" y="2666238"/>
                  </a:lnTo>
                  <a:lnTo>
                    <a:pt x="10067544" y="2666238"/>
                  </a:lnTo>
                  <a:lnTo>
                    <a:pt x="10092944" y="2666238"/>
                  </a:lnTo>
                  <a:cubicBezTo>
                    <a:pt x="10092944" y="2815209"/>
                    <a:pt x="9970770" y="2935478"/>
                    <a:pt x="9820656" y="2935478"/>
                  </a:cubicBezTo>
                  <a:lnTo>
                    <a:pt x="9820656" y="2910078"/>
                  </a:lnTo>
                  <a:lnTo>
                    <a:pt x="9820656" y="2935478"/>
                  </a:lnTo>
                  <a:lnTo>
                    <a:pt x="272288" y="2935478"/>
                  </a:lnTo>
                  <a:lnTo>
                    <a:pt x="272288" y="2910078"/>
                  </a:lnTo>
                  <a:lnTo>
                    <a:pt x="272288" y="2935478"/>
                  </a:lnTo>
                  <a:cubicBezTo>
                    <a:pt x="122174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606" y="2884678"/>
                    <a:pt x="272288" y="2884678"/>
                  </a:cubicBezTo>
                  <a:lnTo>
                    <a:pt x="9820656" y="2884678"/>
                  </a:lnTo>
                  <a:cubicBezTo>
                    <a:pt x="9943338" y="2884678"/>
                    <a:pt x="10042144" y="2786634"/>
                    <a:pt x="10042144" y="2666238"/>
                  </a:cubicBezTo>
                  <a:lnTo>
                    <a:pt x="10042144" y="269240"/>
                  </a:lnTo>
                  <a:cubicBezTo>
                    <a:pt x="10042144" y="148844"/>
                    <a:pt x="9943338" y="50800"/>
                    <a:pt x="9820656" y="50800"/>
                  </a:cubicBezTo>
                  <a:lnTo>
                    <a:pt x="272288" y="50800"/>
                  </a:lnTo>
                  <a:lnTo>
                    <a:pt x="272288" y="25400"/>
                  </a:lnTo>
                  <a:lnTo>
                    <a:pt x="272288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428159" y="2553738"/>
            <a:ext cx="4656830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Студенты и преподаватели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8159" y="3100092"/>
            <a:ext cx="6730917" cy="1305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Курсы «Алгоритмы и структуры данных» — наглядная демонстрация работы kNN и KD-Tree на практике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97100" y="2342617"/>
            <a:ext cx="7462380" cy="2201618"/>
            <a:chOff x="0" y="0"/>
            <a:chExt cx="9949840" cy="2935491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9899015" cy="2884678"/>
            </a:xfrm>
            <a:custGeom>
              <a:avLst/>
              <a:gdLst/>
              <a:ahLst/>
              <a:cxnLst/>
              <a:rect l="l" t="t" r="r" b="b"/>
              <a:pathLst>
                <a:path w="9899015" h="2884678">
                  <a:moveTo>
                    <a:pt x="0" y="243840"/>
                  </a:moveTo>
                  <a:cubicBezTo>
                    <a:pt x="0" y="109220"/>
                    <a:pt x="110490" y="0"/>
                    <a:pt x="246888" y="0"/>
                  </a:cubicBezTo>
                  <a:lnTo>
                    <a:pt x="9652127" y="0"/>
                  </a:lnTo>
                  <a:cubicBezTo>
                    <a:pt x="9788525" y="0"/>
                    <a:pt x="9899015" y="109220"/>
                    <a:pt x="9899015" y="243840"/>
                  </a:cubicBezTo>
                  <a:lnTo>
                    <a:pt x="9899015" y="2640838"/>
                  </a:lnTo>
                  <a:cubicBezTo>
                    <a:pt x="9899015" y="2775458"/>
                    <a:pt x="9788525" y="2884678"/>
                    <a:pt x="9652127" y="2884678"/>
                  </a:cubicBezTo>
                  <a:lnTo>
                    <a:pt x="246888" y="2884678"/>
                  </a:lnTo>
                  <a:cubicBezTo>
                    <a:pt x="110490" y="2884678"/>
                    <a:pt x="0" y="2775458"/>
                    <a:pt x="0" y="26408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9949815" cy="2935478"/>
            </a:xfrm>
            <a:custGeom>
              <a:avLst/>
              <a:gdLst/>
              <a:ahLst/>
              <a:cxnLst/>
              <a:rect l="l" t="t" r="r" b="b"/>
              <a:pathLst>
                <a:path w="9949815" h="2935478">
                  <a:moveTo>
                    <a:pt x="0" y="269240"/>
                  </a:moveTo>
                  <a:cubicBezTo>
                    <a:pt x="0" y="120269"/>
                    <a:pt x="122174" y="0"/>
                    <a:pt x="272288" y="0"/>
                  </a:cubicBezTo>
                  <a:lnTo>
                    <a:pt x="9677527" y="0"/>
                  </a:lnTo>
                  <a:lnTo>
                    <a:pt x="9677527" y="25400"/>
                  </a:lnTo>
                  <a:lnTo>
                    <a:pt x="9677527" y="0"/>
                  </a:lnTo>
                  <a:cubicBezTo>
                    <a:pt x="9827641" y="0"/>
                    <a:pt x="9949815" y="120269"/>
                    <a:pt x="9949815" y="269240"/>
                  </a:cubicBezTo>
                  <a:lnTo>
                    <a:pt x="9924415" y="269240"/>
                  </a:lnTo>
                  <a:lnTo>
                    <a:pt x="9949815" y="269240"/>
                  </a:lnTo>
                  <a:lnTo>
                    <a:pt x="9949815" y="2666238"/>
                  </a:lnTo>
                  <a:lnTo>
                    <a:pt x="9924415" y="2666238"/>
                  </a:lnTo>
                  <a:lnTo>
                    <a:pt x="9949815" y="2666238"/>
                  </a:lnTo>
                  <a:cubicBezTo>
                    <a:pt x="9949815" y="2815209"/>
                    <a:pt x="9827641" y="2935478"/>
                    <a:pt x="9677527" y="2935478"/>
                  </a:cubicBezTo>
                  <a:lnTo>
                    <a:pt x="9677527" y="2910078"/>
                  </a:lnTo>
                  <a:lnTo>
                    <a:pt x="9677527" y="2935478"/>
                  </a:lnTo>
                  <a:lnTo>
                    <a:pt x="272288" y="2935478"/>
                  </a:lnTo>
                  <a:lnTo>
                    <a:pt x="272288" y="2910078"/>
                  </a:lnTo>
                  <a:lnTo>
                    <a:pt x="272288" y="2935478"/>
                  </a:lnTo>
                  <a:cubicBezTo>
                    <a:pt x="122174" y="2935478"/>
                    <a:pt x="0" y="2815209"/>
                    <a:pt x="0" y="266623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666238"/>
                  </a:lnTo>
                  <a:lnTo>
                    <a:pt x="25400" y="2666238"/>
                  </a:lnTo>
                  <a:lnTo>
                    <a:pt x="50800" y="2666238"/>
                  </a:lnTo>
                  <a:cubicBezTo>
                    <a:pt x="50800" y="2786634"/>
                    <a:pt x="149606" y="2884678"/>
                    <a:pt x="272288" y="2884678"/>
                  </a:cubicBezTo>
                  <a:lnTo>
                    <a:pt x="9677527" y="2884678"/>
                  </a:lnTo>
                  <a:cubicBezTo>
                    <a:pt x="9800082" y="2884678"/>
                    <a:pt x="9899015" y="2786634"/>
                    <a:pt x="9899015" y="2666238"/>
                  </a:cubicBezTo>
                  <a:lnTo>
                    <a:pt x="9899015" y="269240"/>
                  </a:lnTo>
                  <a:cubicBezTo>
                    <a:pt x="9899015" y="148844"/>
                    <a:pt x="9800209" y="50800"/>
                    <a:pt x="9677527" y="50800"/>
                  </a:cubicBezTo>
                  <a:lnTo>
                    <a:pt x="272288" y="50800"/>
                  </a:lnTo>
                  <a:lnTo>
                    <a:pt x="272288" y="25400"/>
                  </a:lnTo>
                  <a:lnTo>
                    <a:pt x="272288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0320832" y="2650541"/>
            <a:ext cx="5681167" cy="409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Разработчики</a:t>
            </a:r>
            <a:r>
              <a:rPr lang="en-US" sz="275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прототипов</a:t>
            </a:r>
            <a:endParaRPr lang="en-US" sz="275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320833" y="3196885"/>
            <a:ext cx="6743700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Тем, кому не нужна тяжёлая инфраструктура нейронных сетей для начальной реализации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389893" y="5054327"/>
            <a:ext cx="7508205" cy="2795483"/>
            <a:chOff x="0" y="0"/>
            <a:chExt cx="10010940" cy="3727310"/>
          </a:xfrm>
        </p:grpSpPr>
        <p:sp>
          <p:nvSpPr>
            <p:cNvPr id="18" name="Freeform 18"/>
            <p:cNvSpPr/>
            <p:nvPr/>
          </p:nvSpPr>
          <p:spPr>
            <a:xfrm>
              <a:off x="25400" y="25400"/>
              <a:ext cx="9960102" cy="3676523"/>
            </a:xfrm>
            <a:custGeom>
              <a:avLst/>
              <a:gdLst/>
              <a:ahLst/>
              <a:cxnLst/>
              <a:rect l="l" t="t" r="r" b="b"/>
              <a:pathLst>
                <a:path w="9960102" h="3676523">
                  <a:moveTo>
                    <a:pt x="0" y="310769"/>
                  </a:moveTo>
                  <a:cubicBezTo>
                    <a:pt x="0" y="139192"/>
                    <a:pt x="140335" y="0"/>
                    <a:pt x="313436" y="0"/>
                  </a:cubicBezTo>
                  <a:lnTo>
                    <a:pt x="9646666" y="0"/>
                  </a:lnTo>
                  <a:cubicBezTo>
                    <a:pt x="9819767" y="0"/>
                    <a:pt x="9960102" y="139192"/>
                    <a:pt x="9960102" y="310769"/>
                  </a:cubicBezTo>
                  <a:lnTo>
                    <a:pt x="9960102" y="3365754"/>
                  </a:lnTo>
                  <a:cubicBezTo>
                    <a:pt x="9960102" y="3537331"/>
                    <a:pt x="9819767" y="3676523"/>
                    <a:pt x="9646666" y="3676523"/>
                  </a:cubicBezTo>
                  <a:lnTo>
                    <a:pt x="313436" y="3676523"/>
                  </a:lnTo>
                  <a:cubicBezTo>
                    <a:pt x="140335" y="3676523"/>
                    <a:pt x="0" y="3537331"/>
                    <a:pt x="0" y="33657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0010902" cy="3727323"/>
            </a:xfrm>
            <a:custGeom>
              <a:avLst/>
              <a:gdLst/>
              <a:ahLst/>
              <a:cxnLst/>
              <a:rect l="l" t="t" r="r" b="b"/>
              <a:pathLst>
                <a:path w="10010902" h="3727323">
                  <a:moveTo>
                    <a:pt x="0" y="336169"/>
                  </a:moveTo>
                  <a:cubicBezTo>
                    <a:pt x="0" y="150368"/>
                    <a:pt x="151892" y="0"/>
                    <a:pt x="338836" y="0"/>
                  </a:cubicBezTo>
                  <a:lnTo>
                    <a:pt x="9672066" y="0"/>
                  </a:lnTo>
                  <a:lnTo>
                    <a:pt x="9672066" y="25400"/>
                  </a:lnTo>
                  <a:lnTo>
                    <a:pt x="9672066" y="0"/>
                  </a:lnTo>
                  <a:cubicBezTo>
                    <a:pt x="9859011" y="0"/>
                    <a:pt x="10010902" y="150368"/>
                    <a:pt x="10010902" y="336169"/>
                  </a:cubicBezTo>
                  <a:lnTo>
                    <a:pt x="9985502" y="336169"/>
                  </a:lnTo>
                  <a:lnTo>
                    <a:pt x="10010902" y="336169"/>
                  </a:lnTo>
                  <a:lnTo>
                    <a:pt x="10010902" y="3391154"/>
                  </a:lnTo>
                  <a:lnTo>
                    <a:pt x="9985502" y="3391154"/>
                  </a:lnTo>
                  <a:lnTo>
                    <a:pt x="10010902" y="3391154"/>
                  </a:lnTo>
                  <a:cubicBezTo>
                    <a:pt x="10010902" y="3577082"/>
                    <a:pt x="9859011" y="3727323"/>
                    <a:pt x="9672066" y="3727323"/>
                  </a:cubicBezTo>
                  <a:lnTo>
                    <a:pt x="9672066" y="3701923"/>
                  </a:lnTo>
                  <a:lnTo>
                    <a:pt x="9672066" y="3727323"/>
                  </a:lnTo>
                  <a:lnTo>
                    <a:pt x="338836" y="3727323"/>
                  </a:lnTo>
                  <a:lnTo>
                    <a:pt x="338836" y="3701923"/>
                  </a:lnTo>
                  <a:lnTo>
                    <a:pt x="338836" y="3727323"/>
                  </a:lnTo>
                  <a:cubicBezTo>
                    <a:pt x="151892" y="3727323"/>
                    <a:pt x="0" y="3576955"/>
                    <a:pt x="0" y="3391154"/>
                  </a:cubicBezTo>
                  <a:lnTo>
                    <a:pt x="0" y="336169"/>
                  </a:lnTo>
                  <a:lnTo>
                    <a:pt x="25400" y="336169"/>
                  </a:lnTo>
                  <a:lnTo>
                    <a:pt x="0" y="336169"/>
                  </a:lnTo>
                  <a:moveTo>
                    <a:pt x="50800" y="336169"/>
                  </a:moveTo>
                  <a:lnTo>
                    <a:pt x="50800" y="3391154"/>
                  </a:lnTo>
                  <a:lnTo>
                    <a:pt x="25400" y="3391154"/>
                  </a:lnTo>
                  <a:lnTo>
                    <a:pt x="50800" y="3391154"/>
                  </a:lnTo>
                  <a:cubicBezTo>
                    <a:pt x="50800" y="3548507"/>
                    <a:pt x="179578" y="3676523"/>
                    <a:pt x="338836" y="3676523"/>
                  </a:cubicBezTo>
                  <a:lnTo>
                    <a:pt x="9672066" y="3676523"/>
                  </a:lnTo>
                  <a:cubicBezTo>
                    <a:pt x="9831324" y="3676523"/>
                    <a:pt x="9960102" y="3548507"/>
                    <a:pt x="9960102" y="3391154"/>
                  </a:cubicBezTo>
                  <a:lnTo>
                    <a:pt x="9960102" y="336169"/>
                  </a:lnTo>
                  <a:cubicBezTo>
                    <a:pt x="9960102" y="178816"/>
                    <a:pt x="9831324" y="50800"/>
                    <a:pt x="9672066" y="50800"/>
                  </a:cubicBezTo>
                  <a:lnTo>
                    <a:pt x="338836" y="50800"/>
                  </a:lnTo>
                  <a:lnTo>
                    <a:pt x="338836" y="25400"/>
                  </a:lnTo>
                  <a:lnTo>
                    <a:pt x="338836" y="50800"/>
                  </a:lnTo>
                  <a:cubicBezTo>
                    <a:pt x="179578" y="50800"/>
                    <a:pt x="50800" y="178816"/>
                    <a:pt x="50800" y="336169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5954762" y="5355565"/>
            <a:ext cx="4789437" cy="409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Исследователи</a:t>
            </a:r>
            <a:r>
              <a:rPr lang="en-US" sz="275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5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алгоритмов</a:t>
            </a:r>
            <a:endParaRPr lang="en-US" sz="275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954763" y="5901909"/>
            <a:ext cx="6871002" cy="126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Желающие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сравнить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эффективность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KD-Tree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относительно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линейного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перебора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поиске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ближайших</a:t>
            </a:r>
            <a:r>
              <a:rPr lang="en-US" sz="2187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87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соседей</a:t>
            </a:r>
            <a:endParaRPr lang="en-US" sz="2187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2445" y="742207"/>
            <a:ext cx="6892080" cy="838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и задачи проекта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445" y="2103682"/>
            <a:ext cx="3751212" cy="497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проекта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445" y="2745581"/>
            <a:ext cx="7866459" cy="120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93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полностью рабочую систему распознавания цифр и простых геометрических фигур без использования готовых ML-библиотек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445" y="4341047"/>
            <a:ext cx="4029370" cy="497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37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Поставленные задачи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2445" y="4982947"/>
            <a:ext cx="7866459" cy="248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2199" lvl="1" indent="-146100" algn="l">
              <a:lnSpc>
                <a:spcPts val="2937"/>
              </a:lnSpc>
              <a:buFont typeface="Arial"/>
              <a:buChar char="•"/>
            </a:pPr>
            <a:r>
              <a:rPr lang="en-US" sz="193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kNN и KD-Tree вручную на C#, изучить алгоритмическую сложность и ограничения</a:t>
            </a:r>
          </a:p>
          <a:p>
            <a:pPr marL="292199" lvl="1" indent="-146100" algn="l">
              <a:lnSpc>
                <a:spcPts val="2937"/>
              </a:lnSpc>
              <a:buFont typeface="Arial"/>
              <a:buChar char="•"/>
            </a:pPr>
            <a:r>
              <a:rPr lang="en-US" sz="193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Спроектировать базу данных PostgreSQL для хранения признаков как FLOAT8[]</a:t>
            </a:r>
          </a:p>
          <a:p>
            <a:pPr marL="292199" lvl="1" indent="-146100" algn="l">
              <a:lnSpc>
                <a:spcPts val="2937"/>
              </a:lnSpc>
              <a:buFont typeface="Arial"/>
              <a:buChar char="•"/>
            </a:pPr>
            <a:r>
              <a:rPr lang="en-US" sz="1937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WPF-интерфейс и проведение замеров времени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798614"/>
            <a:ext cx="16341700" cy="1651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4999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Недостатки существующих решений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54062" y="3177626"/>
            <a:ext cx="4607871" cy="3407721"/>
            <a:chOff x="0" y="0"/>
            <a:chExt cx="6143828" cy="45436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43879" cy="4543679"/>
            </a:xfrm>
            <a:custGeom>
              <a:avLst/>
              <a:gdLst/>
              <a:ahLst/>
              <a:cxnLst/>
              <a:rect l="l" t="t" r="r" b="b"/>
              <a:pathLst>
                <a:path w="6143879" h="4543679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60999" y="0"/>
                  </a:lnTo>
                  <a:cubicBezTo>
                    <a:pt x="6061964" y="0"/>
                    <a:pt x="6143879" y="81915"/>
                    <a:pt x="6143879" y="182880"/>
                  </a:cubicBezTo>
                  <a:lnTo>
                    <a:pt x="6143879" y="4360799"/>
                  </a:lnTo>
                  <a:cubicBezTo>
                    <a:pt x="6143879" y="4461764"/>
                    <a:pt x="6061964" y="4543679"/>
                    <a:pt x="5960999" y="4543679"/>
                  </a:cubicBezTo>
                  <a:lnTo>
                    <a:pt x="182880" y="4543679"/>
                  </a:lnTo>
                  <a:cubicBezTo>
                    <a:pt x="81915" y="4543679"/>
                    <a:pt x="0" y="4461764"/>
                    <a:pt x="0" y="43607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275902" y="3786930"/>
            <a:ext cx="4040534" cy="825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Линейный поиск — O(n) на запрос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902" y="4674098"/>
            <a:ext cx="4040534" cy="16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тысячах обучающих примеров время ожидания становится критическим для пользователей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71786" y="3786930"/>
            <a:ext cx="4040686" cy="825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ML-фреймворки — зависимость и сложность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71786" y="4674098"/>
            <a:ext cx="4040686" cy="162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Проблемы версионирования, сложная настройка окружения, трудности объяснения на защите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22287" y="3786930"/>
            <a:ext cx="4189276" cy="373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Учебные</a:t>
            </a:r>
            <a:r>
              <a:rPr lang="en-US" sz="2499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примеры</a:t>
            </a:r>
            <a:r>
              <a:rPr lang="en-US" sz="2499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499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22324" y="4268114"/>
            <a:ext cx="4911614" cy="85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полноценной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реализации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C# с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базой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данных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пользовательским</a:t>
            </a: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интерфейсом</a:t>
            </a:r>
            <a:endParaRPr lang="en-US" sz="20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13797"/>
            <a:ext cx="7010248" cy="90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Архитектура системы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148183"/>
            <a:ext cx="1630352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построен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принципам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чистой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архитектуры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чётким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разделением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ответственностей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2238" y="3140774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(WPF)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667325"/>
            <a:ext cx="1470094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изображений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выбор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запуск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обучения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классификации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результатов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времени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2238" y="4756890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283451"/>
            <a:ext cx="1470094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Сервисы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извлечения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признаков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(16×16, grayscale),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обучение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изображений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2238" y="6373016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899577"/>
            <a:ext cx="1470094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KDNode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KDTree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KNearestNeighbors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DistanceCalculator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чистая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внешних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зависимостей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92238" y="7989141"/>
            <a:ext cx="336693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32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8515693"/>
            <a:ext cx="14700942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Npgsql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таблицы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classes, images, features, models, experiments,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397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85838" y="734168"/>
            <a:ext cx="8634194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8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Взаимодействие</a:t>
            </a:r>
            <a:r>
              <a:rPr lang="en-US" sz="48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8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компонентов</a:t>
            </a:r>
            <a:endParaRPr lang="en-US" sz="48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50421" y="4987833"/>
            <a:ext cx="16316325" cy="19050"/>
            <a:chOff x="0" y="0"/>
            <a:chExt cx="21755100" cy="25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5100" cy="25400"/>
            </a:xfrm>
            <a:custGeom>
              <a:avLst/>
              <a:gdLst/>
              <a:ahLst/>
              <a:cxnLst/>
              <a:rect l="l" t="t" r="r" b="b"/>
              <a:pathLst>
                <a:path w="21755100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742400" y="0"/>
                  </a:lnTo>
                  <a:cubicBezTo>
                    <a:pt x="21749386" y="0"/>
                    <a:pt x="21755100" y="5715"/>
                    <a:pt x="21755100" y="12700"/>
                  </a:cubicBezTo>
                  <a:cubicBezTo>
                    <a:pt x="21755100" y="19685"/>
                    <a:pt x="21749386" y="25400"/>
                    <a:pt x="2174240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4159755" y="4438507"/>
            <a:ext cx="19050" cy="549326"/>
            <a:chOff x="0" y="0"/>
            <a:chExt cx="25400" cy="7324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400" cy="732409"/>
            </a:xfrm>
            <a:custGeom>
              <a:avLst/>
              <a:gdLst/>
              <a:ahLst/>
              <a:cxnLst/>
              <a:rect l="l" t="t" r="r" b="b"/>
              <a:pathLst>
                <a:path w="25400" h="73240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19709"/>
                  </a:lnTo>
                  <a:cubicBezTo>
                    <a:pt x="25400" y="726694"/>
                    <a:pt x="19685" y="732409"/>
                    <a:pt x="12700" y="732409"/>
                  </a:cubicBezTo>
                  <a:cubicBezTo>
                    <a:pt x="5715" y="732409"/>
                    <a:pt x="0" y="726694"/>
                    <a:pt x="0" y="719709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963292" y="4781854"/>
            <a:ext cx="411956" cy="411956"/>
            <a:chOff x="0" y="0"/>
            <a:chExt cx="549275" cy="5492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9275" cy="549275"/>
            </a:xfrm>
            <a:custGeom>
              <a:avLst/>
              <a:gdLst/>
              <a:ahLst/>
              <a:cxnLst/>
              <a:rect l="l" t="t" r="r" b="b"/>
              <a:pathLst>
                <a:path w="549275" h="549275">
                  <a:moveTo>
                    <a:pt x="0" y="219710"/>
                  </a:moveTo>
                  <a:cubicBezTo>
                    <a:pt x="0" y="98425"/>
                    <a:pt x="98425" y="0"/>
                    <a:pt x="219710" y="0"/>
                  </a:cubicBezTo>
                  <a:lnTo>
                    <a:pt x="329565" y="0"/>
                  </a:lnTo>
                  <a:cubicBezTo>
                    <a:pt x="450977" y="0"/>
                    <a:pt x="549275" y="98425"/>
                    <a:pt x="549275" y="219710"/>
                  </a:cubicBezTo>
                  <a:lnTo>
                    <a:pt x="549275" y="329565"/>
                  </a:lnTo>
                  <a:cubicBezTo>
                    <a:pt x="549275" y="450977"/>
                    <a:pt x="450850" y="549275"/>
                    <a:pt x="329565" y="549275"/>
                  </a:cubicBezTo>
                  <a:lnTo>
                    <a:pt x="219710" y="549275"/>
                  </a:lnTo>
                  <a:cubicBezTo>
                    <a:pt x="98425" y="549275"/>
                    <a:pt x="0" y="450850"/>
                    <a:pt x="0" y="329565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4031977" y="4835280"/>
            <a:ext cx="274587" cy="27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64118" y="3246274"/>
            <a:ext cx="462937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Пользовательский</a:t>
            </a: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ввод</a:t>
            </a:r>
            <a:endParaRPr lang="en-US" sz="32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33400" y="3505835"/>
            <a:ext cx="6071740" cy="121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через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UI-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интерфейс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7452576" y="4987833"/>
            <a:ext cx="19050" cy="549326"/>
            <a:chOff x="0" y="0"/>
            <a:chExt cx="25400" cy="7324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400" cy="732409"/>
            </a:xfrm>
            <a:custGeom>
              <a:avLst/>
              <a:gdLst/>
              <a:ahLst/>
              <a:cxnLst/>
              <a:rect l="l" t="t" r="r" b="b"/>
              <a:pathLst>
                <a:path w="25400" h="73240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19709"/>
                  </a:lnTo>
                  <a:cubicBezTo>
                    <a:pt x="25400" y="726694"/>
                    <a:pt x="19685" y="732409"/>
                    <a:pt x="12700" y="732409"/>
                  </a:cubicBezTo>
                  <a:cubicBezTo>
                    <a:pt x="5715" y="732409"/>
                    <a:pt x="0" y="726694"/>
                    <a:pt x="0" y="719709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7256123" y="4781854"/>
            <a:ext cx="411956" cy="411956"/>
            <a:chOff x="0" y="0"/>
            <a:chExt cx="549275" cy="5492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9275" cy="549275"/>
            </a:xfrm>
            <a:custGeom>
              <a:avLst/>
              <a:gdLst/>
              <a:ahLst/>
              <a:cxnLst/>
              <a:rect l="l" t="t" r="r" b="b"/>
              <a:pathLst>
                <a:path w="549275" h="549275">
                  <a:moveTo>
                    <a:pt x="0" y="219710"/>
                  </a:moveTo>
                  <a:cubicBezTo>
                    <a:pt x="0" y="98425"/>
                    <a:pt x="98425" y="0"/>
                    <a:pt x="219710" y="0"/>
                  </a:cubicBezTo>
                  <a:lnTo>
                    <a:pt x="329565" y="0"/>
                  </a:lnTo>
                  <a:cubicBezTo>
                    <a:pt x="450977" y="0"/>
                    <a:pt x="549275" y="98425"/>
                    <a:pt x="549275" y="219710"/>
                  </a:cubicBezTo>
                  <a:lnTo>
                    <a:pt x="549275" y="329565"/>
                  </a:lnTo>
                  <a:cubicBezTo>
                    <a:pt x="549275" y="450977"/>
                    <a:pt x="450850" y="549275"/>
                    <a:pt x="329565" y="549275"/>
                  </a:cubicBezTo>
                  <a:lnTo>
                    <a:pt x="219710" y="549275"/>
                  </a:lnTo>
                  <a:cubicBezTo>
                    <a:pt x="98425" y="549275"/>
                    <a:pt x="0" y="450850"/>
                    <a:pt x="0" y="329565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7324808" y="4835280"/>
            <a:ext cx="274587" cy="27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09548" y="5644636"/>
            <a:ext cx="448605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Обработка</a:t>
            </a: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приложения</a:t>
            </a:r>
            <a:endParaRPr lang="en-US" sz="32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435756" y="6067673"/>
            <a:ext cx="6071740" cy="121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вызывает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сервисы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извлечения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признаков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0745397" y="4438507"/>
            <a:ext cx="19050" cy="549326"/>
            <a:chOff x="0" y="0"/>
            <a:chExt cx="25400" cy="73243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5400" cy="732409"/>
            </a:xfrm>
            <a:custGeom>
              <a:avLst/>
              <a:gdLst/>
              <a:ahLst/>
              <a:cxnLst/>
              <a:rect l="l" t="t" r="r" b="b"/>
              <a:pathLst>
                <a:path w="25400" h="73240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19709"/>
                  </a:lnTo>
                  <a:cubicBezTo>
                    <a:pt x="25400" y="726694"/>
                    <a:pt x="19685" y="732409"/>
                    <a:pt x="12700" y="732409"/>
                  </a:cubicBezTo>
                  <a:cubicBezTo>
                    <a:pt x="5715" y="732409"/>
                    <a:pt x="0" y="726694"/>
                    <a:pt x="0" y="719709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0548944" y="4781854"/>
            <a:ext cx="411956" cy="411956"/>
            <a:chOff x="0" y="0"/>
            <a:chExt cx="549275" cy="5492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9275" cy="549275"/>
            </a:xfrm>
            <a:custGeom>
              <a:avLst/>
              <a:gdLst/>
              <a:ahLst/>
              <a:cxnLst/>
              <a:rect l="l" t="t" r="r" b="b"/>
              <a:pathLst>
                <a:path w="549275" h="549275">
                  <a:moveTo>
                    <a:pt x="0" y="219710"/>
                  </a:moveTo>
                  <a:cubicBezTo>
                    <a:pt x="0" y="98425"/>
                    <a:pt x="98425" y="0"/>
                    <a:pt x="219710" y="0"/>
                  </a:cubicBezTo>
                  <a:lnTo>
                    <a:pt x="329565" y="0"/>
                  </a:lnTo>
                  <a:cubicBezTo>
                    <a:pt x="450977" y="0"/>
                    <a:pt x="549275" y="98425"/>
                    <a:pt x="549275" y="219710"/>
                  </a:cubicBezTo>
                  <a:lnTo>
                    <a:pt x="549275" y="329565"/>
                  </a:lnTo>
                  <a:cubicBezTo>
                    <a:pt x="549275" y="450977"/>
                    <a:pt x="450850" y="549275"/>
                    <a:pt x="329565" y="549275"/>
                  </a:cubicBezTo>
                  <a:lnTo>
                    <a:pt x="219710" y="549275"/>
                  </a:lnTo>
                  <a:cubicBezTo>
                    <a:pt x="98425" y="549275"/>
                    <a:pt x="0" y="450850"/>
                    <a:pt x="0" y="329565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0617629" y="4835280"/>
            <a:ext cx="274587" cy="27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0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68913" y="3207149"/>
            <a:ext cx="295296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Вызов</a:t>
            </a:r>
            <a:r>
              <a:rPr lang="en-US" sz="32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домена</a:t>
            </a:r>
            <a:endParaRPr lang="en-US" sz="32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736764" y="3544147"/>
            <a:ext cx="6071740" cy="121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выполняет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классификацию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помощью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KD-Tree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4038218" y="4987833"/>
            <a:ext cx="19050" cy="549326"/>
            <a:chOff x="0" y="0"/>
            <a:chExt cx="25400" cy="73243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400" cy="732409"/>
            </a:xfrm>
            <a:custGeom>
              <a:avLst/>
              <a:gdLst/>
              <a:ahLst/>
              <a:cxnLst/>
              <a:rect l="l" t="t" r="r" b="b"/>
              <a:pathLst>
                <a:path w="25400" h="73240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719709"/>
                  </a:lnTo>
                  <a:cubicBezTo>
                    <a:pt x="25400" y="726694"/>
                    <a:pt x="19685" y="732409"/>
                    <a:pt x="12700" y="732409"/>
                  </a:cubicBezTo>
                  <a:cubicBezTo>
                    <a:pt x="5715" y="732409"/>
                    <a:pt x="0" y="726694"/>
                    <a:pt x="0" y="719709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3841765" y="4781854"/>
            <a:ext cx="411956" cy="411956"/>
            <a:chOff x="0" y="0"/>
            <a:chExt cx="549275" cy="54927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9275" cy="549275"/>
            </a:xfrm>
            <a:custGeom>
              <a:avLst/>
              <a:gdLst/>
              <a:ahLst/>
              <a:cxnLst/>
              <a:rect l="l" t="t" r="r" b="b"/>
              <a:pathLst>
                <a:path w="549275" h="549275">
                  <a:moveTo>
                    <a:pt x="0" y="219710"/>
                  </a:moveTo>
                  <a:cubicBezTo>
                    <a:pt x="0" y="98425"/>
                    <a:pt x="98425" y="0"/>
                    <a:pt x="219710" y="0"/>
                  </a:cubicBezTo>
                  <a:lnTo>
                    <a:pt x="329565" y="0"/>
                  </a:lnTo>
                  <a:cubicBezTo>
                    <a:pt x="450977" y="0"/>
                    <a:pt x="549275" y="98425"/>
                    <a:pt x="549275" y="219710"/>
                  </a:cubicBezTo>
                  <a:lnTo>
                    <a:pt x="549275" y="329565"/>
                  </a:lnTo>
                  <a:cubicBezTo>
                    <a:pt x="549275" y="450977"/>
                    <a:pt x="450850" y="549275"/>
                    <a:pt x="329565" y="549275"/>
                  </a:cubicBezTo>
                  <a:lnTo>
                    <a:pt x="219710" y="549275"/>
                  </a:lnTo>
                  <a:cubicBezTo>
                    <a:pt x="98425" y="549275"/>
                    <a:pt x="0" y="450850"/>
                    <a:pt x="0" y="329565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3910450" y="4835280"/>
            <a:ext cx="274587" cy="27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24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12853" y="5586421"/>
            <a:ext cx="228882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32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</a:t>
            </a:r>
            <a:endParaRPr lang="en-US" sz="32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002348" y="5976306"/>
            <a:ext cx="6071740" cy="121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Возврат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результата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классификации</a:t>
            </a:r>
            <a:r>
              <a:rPr lang="en-US" sz="2800" dirty="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 err="1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пользователю</a:t>
            </a:r>
            <a:endParaRPr lang="en-US" sz="2800" dirty="0">
              <a:solidFill>
                <a:srgbClr val="1E30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67518"/>
            <a:ext cx="8814197" cy="90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технологии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121694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C#, .NET, WPF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648245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Основной стек разработки приложения с графическим интерфейсом пользователя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047830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PostgreSQL, Npgsql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574381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Хранение классов, изображений, векторов признаков, экспериментов и результатов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973966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System.Drawing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500517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и преобразование изображений (resize, grayscale, нормализация)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900092"/>
            <a:ext cx="3366935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kNN и KD-Tree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8426653"/>
            <a:ext cx="8452399" cy="92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Полностью реализованы вручную без ML.NET и других ML-библиотек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31E7078-FEFE-432F-85ED-98D9C2C13A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36" y="2061641"/>
            <a:ext cx="16334927" cy="6163717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AE379806-F34A-A511-142F-B48AB72391D3}"/>
              </a:ext>
            </a:extLst>
          </p:cNvPr>
          <p:cNvSpPr txBox="1"/>
          <p:nvPr/>
        </p:nvSpPr>
        <p:spPr>
          <a:xfrm>
            <a:off x="6656412" y="571500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Диаграммы</a:t>
            </a: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системы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1939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813F1D-DCB9-FA2C-1E6D-FF4C2C4EE9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117" y="895712"/>
            <a:ext cx="10621766" cy="8495575"/>
          </a:xfrm>
          <a:prstGeom prst="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10B3E3CF-5F84-9727-C3ED-E7BFD2231A12}"/>
              </a:ext>
            </a:extLst>
          </p:cNvPr>
          <p:cNvSpPr txBox="1"/>
          <p:nvPr/>
        </p:nvSpPr>
        <p:spPr>
          <a:xfrm>
            <a:off x="6656413" y="275253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Диаграммы</a:t>
            </a: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системы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1620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E53F90-7E8D-AB8C-E87E-4FDA02E8D0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092616"/>
            <a:ext cx="7924800" cy="8101767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E46607A4-9DD2-1480-5CD3-77D47913633E}"/>
              </a:ext>
            </a:extLst>
          </p:cNvPr>
          <p:cNvSpPr txBox="1"/>
          <p:nvPr/>
        </p:nvSpPr>
        <p:spPr>
          <a:xfrm>
            <a:off x="6656413" y="266700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</a:t>
            </a:r>
            <a:r>
              <a:rPr lang="ru-RU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диаграмма </a:t>
            </a:r>
            <a:r>
              <a:rPr lang="ru-RU" sz="3875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бд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9276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59511-74C9-3E81-FEA1-387AFF25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5FEEB944-F2BE-1525-9D5C-80CE1BBF4B2F}"/>
              </a:ext>
            </a:extLst>
          </p:cNvPr>
          <p:cNvSpPr txBox="1"/>
          <p:nvPr/>
        </p:nvSpPr>
        <p:spPr>
          <a:xfrm>
            <a:off x="6656413" y="266700"/>
            <a:ext cx="4975174" cy="58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lang="en-US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Use-case </a:t>
            </a:r>
            <a:r>
              <a:rPr lang="ru-RU" sz="3875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диаграмма</a:t>
            </a:r>
            <a:endParaRPr lang="en-US" sz="3875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128E4A-A3F9-1D1B-946C-75B53FEBB0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068" y="984712"/>
            <a:ext cx="12271864" cy="930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481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984199"/>
            <a:ext cx="11892258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80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алгоритмы и процесс обработки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4612" y="1941566"/>
            <a:ext cx="5990187" cy="53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6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Алгоритмы</a:t>
            </a:r>
            <a:r>
              <a:rPr lang="en-US" sz="36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классификации</a:t>
            </a:r>
            <a:endParaRPr lang="en-US" sz="36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47623" y="2878931"/>
            <a:ext cx="3937997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kNN (k-ближайших соседей)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7623" y="3303984"/>
            <a:ext cx="4802686" cy="9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Находим k ближайших точек в пространстве признаков по евклидову расстоянию, выбираем класс методом голосования большинством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42509" y="2878931"/>
            <a:ext cx="375865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KD-Tree (k-мерное дерево)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42509" y="3303984"/>
            <a:ext cx="4802829" cy="9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Строим бинарное дерево по медиане по оси, на каждом уровне меняем ось разбиения. Поиск с отсечением ветвей для ускорения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37539" y="2878931"/>
            <a:ext cx="3111703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Евклидово расстояние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37539" y="3303984"/>
            <a:ext cx="4802829" cy="63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Стандартная метрика для kNN: </a:t>
            </a:r>
            <a:r>
              <a:rPr lang="en-US" i="1">
                <a:solidFill>
                  <a:srgbClr val="1E3063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\sqrt{\sum_{i=1}^{n}(a_i - b_i)^2}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237539" y="3718770"/>
            <a:ext cx="1591266" cy="283664"/>
            <a:chOff x="0" y="0"/>
            <a:chExt cx="2121687" cy="378219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2121662" cy="378206"/>
            </a:xfrm>
            <a:custGeom>
              <a:avLst/>
              <a:gdLst/>
              <a:ahLst/>
              <a:cxnLst/>
              <a:rect l="l" t="t" r="r" b="b"/>
              <a:pathLst>
                <a:path w="2121662" h="378206">
                  <a:moveTo>
                    <a:pt x="0" y="0"/>
                  </a:moveTo>
                  <a:lnTo>
                    <a:pt x="2121662" y="0"/>
                  </a:lnTo>
                  <a:lnTo>
                    <a:pt x="2121662" y="378206"/>
                  </a:lnTo>
                  <a:lnTo>
                    <a:pt x="0" y="378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86" r="-1" b="-389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313455" y="5575375"/>
            <a:ext cx="7372502" cy="53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6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</a:t>
            </a:r>
            <a:r>
              <a:rPr lang="en-US" sz="36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обработки</a:t>
            </a:r>
            <a:r>
              <a:rPr lang="en-US" sz="3600" dirty="0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 err="1">
                <a:solidFill>
                  <a:srgbClr val="091C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изображения</a:t>
            </a:r>
            <a:endParaRPr lang="en-US" sz="3600" dirty="0">
              <a:solidFill>
                <a:srgbClr val="091C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47623" y="6530511"/>
            <a:ext cx="4065832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и масштабирование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7623" y="6955565"/>
            <a:ext cx="4859836" cy="9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System.Drawing.Bitmap загружает изображение и масштабирует до 16×16 пикселей для унификации размера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42509" y="6547752"/>
            <a:ext cx="283532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Перевод в grayscale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42509" y="6972805"/>
            <a:ext cx="4859979" cy="9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Конвертация RGB в оттенки серого: </a:t>
            </a:r>
            <a:r>
              <a:rPr lang="en-US" i="1">
                <a:solidFill>
                  <a:srgbClr val="1E3063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0.299R + 0.587G + 0.114B</a:t>
            </a: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нормализацией в диапазон [0, 1]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37539" y="6530511"/>
            <a:ext cx="283532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400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Вектор признаков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37539" y="6955565"/>
            <a:ext cx="4859979" cy="97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>
                <a:solidFill>
                  <a:srgbClr val="1E30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256 значений — по одному на каждый пиксель, записанные построчно в массив FLOAT8[] для хранения в 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627</Words>
  <Application>Microsoft Office PowerPoint</Application>
  <PresentationFormat>Произвольный</PresentationFormat>
  <Paragraphs>114</Paragraphs>
  <Slides>13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Times New Roman</vt:lpstr>
      <vt:lpstr>Calibri</vt:lpstr>
      <vt:lpstr>Arial</vt:lpstr>
      <vt:lpstr>Times New Roman Italics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Raspoznavanie-izobrazhenij-s-pomoshyu-kNN-i-KD-Tree.pptx</dc:title>
  <dc:creator>Dmitry</dc:creator>
  <cp:lastModifiedBy>Dmitry</cp:lastModifiedBy>
  <cp:revision>4</cp:revision>
  <dcterms:created xsi:type="dcterms:W3CDTF">2006-08-16T00:00:00Z</dcterms:created>
  <dcterms:modified xsi:type="dcterms:W3CDTF">2026-03-11T05:46:04Z</dcterms:modified>
  <dc:identifier>DAHDlNsHA-4</dc:identifier>
</cp:coreProperties>
</file>