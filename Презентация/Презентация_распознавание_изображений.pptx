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6" r:id="rId9"/>
    <p:sldId id="267" r:id="rId10"/>
    <p:sldId id="268" r:id="rId11"/>
    <p:sldId id="269" r:id="rId12"/>
    <p:sldId id="265" r:id="rId13"/>
    <p:sldId id="282" r:id="rId14"/>
    <p:sldId id="284" r:id="rId15"/>
    <p:sldId id="285" r:id="rId16"/>
    <p:sldId id="281" r:id="rId17"/>
    <p:sldId id="275" r:id="rId18"/>
    <p:sldId id="277" r:id="rId19"/>
    <p:sldId id="276" r:id="rId20"/>
  </p:sldIdLst>
  <p:sldSz cx="18288000" cy="10287000"/>
  <p:notesSz cx="6858000" cy="9144000"/>
  <p:embeddedFontLst>
    <p:embeddedFont>
      <p:font typeface="Calibri" panose="020F0502020204030204" pitchFamily="34" charset="0"/>
      <p:regular r:id="rId22"/>
      <p:bold r:id="rId23"/>
      <p:italic r:id="rId24"/>
      <p:boldItalic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5" d="100"/>
          <a:sy n="65" d="100"/>
        </p:scale>
        <p:origin x="82" y="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05.05.2026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02D2EB-3718-1DF1-A548-E6DABA8BDC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382CEEC-7E84-D4DA-0850-31B4EDA0D25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F1D9E0-C7BA-0E57-1921-36AA0E56947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E264B60E-3321-22DA-7C95-00A6A5DC60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150D4526-D1E0-38F9-DBF5-10827C28AE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A7CD9A-FA0B-D02C-05DF-25370FD4D3B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10AACD-334F-EEF4-E548-7CE9A75C48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5299222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545E21-3D83-138E-0257-A04A38DEA4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781150B-3AD9-2076-E818-8C97EC49F3E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842AF2-C8CB-C531-AEFE-AC057F1FE8E5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EA140394-19F6-5845-876C-B96793B26DA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821144EC-5781-B376-3628-087FC25230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450B32-96E3-AC69-3662-FE6EF0CE09D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8A1C1D-5DB5-E67B-2AD4-FB1476CFE6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40448244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7D382F-5FD9-E91A-D228-847BB0E7A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F863CF7-15BC-A26C-70D0-C177484CC42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2876BF-0EB9-E7FB-5C79-1EC85D9E0DE8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65832507-02CB-852D-C735-0108554984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9A7D2950-98EC-9E02-6621-229728E1C2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5F1EB5-B113-1108-AF18-48D6817A8C1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653FA7-F5D5-FE43-2E21-F454F2FAF6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4671624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8D02E7-A9D9-5573-679E-C97BA3D366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9D7A60B-D24D-0731-F5C1-0E17F3AA8B4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3335F9-722F-58D4-D401-F25B6E45C22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E65C621C-7766-6280-FA62-ECDFCFBC56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CC683479-FE6D-88DB-C787-29C807C59C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2A739F-D4F7-A2D6-E9A9-C4736137934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8B04C2-AFE5-FB07-190C-C324154E08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0012883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5E1F70-B751-75D8-CDCE-ADB89C55D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B93329-AE0E-7FF1-61A5-50EDEE9014C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916C924-1507-5670-7F1B-1DBB9BA6B979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FE0F30C4-ECB7-7B3F-9D2D-22AE5BA306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1C1291DD-D015-48FA-8BC9-D61695097F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6C81E1-1182-1CB8-474D-C7034816594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A6D60D-DCCF-8E61-CA1A-CE7CB5CA9B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26951077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D1B43F-1E89-977E-4B96-8F835E4CC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071D306-AEEC-9016-E9CA-14E6838DE49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772FE7D-91A1-FFFB-603A-FCE2DA61AA4D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7286B98E-7C71-4521-566B-00A966073F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7325EC29-F3E9-E01C-11C8-04817D6E47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72499F-3497-8657-3445-59F24392255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284F18-DE09-A586-3FB4-0B0E688028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40724111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578F55-24A6-7AFA-3FE1-91EEE0D81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D63FF26-6C7B-70E9-6590-41BE0CF7FD6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7E2BCD-BE69-6D2A-6A0E-5118B24AE520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62A8EA4B-9774-8907-ABFF-B656B97750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24461E7A-91C5-309D-762E-2986979B15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765989-EC9F-286A-7043-A5A34A2AB69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ED4019-FB3A-FD97-1515-9CD98FFEDC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8638596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48740" y="528504"/>
            <a:ext cx="15590520" cy="19159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Министерство</a:t>
            </a:r>
            <a:r>
              <a:rPr lang="en-US" sz="27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науки</a:t>
            </a:r>
            <a:r>
              <a:rPr lang="en-US" sz="27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и </a:t>
            </a:r>
            <a:r>
              <a:rPr lang="en-US" sz="27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высшего</a:t>
            </a:r>
            <a:r>
              <a:rPr lang="en-US" sz="27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образования</a:t>
            </a:r>
            <a:r>
              <a:rPr lang="en-US" sz="27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Российской</a:t>
            </a:r>
            <a:r>
              <a:rPr lang="en-US" sz="27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Федерации</a:t>
            </a:r>
            <a:r>
              <a:rPr lang="en-US" sz="27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 algn="ctr">
              <a:lnSpc>
                <a:spcPts val="3240"/>
              </a:lnSpc>
            </a:pPr>
            <a:r>
              <a:rPr lang="en-US" sz="27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Федеральное</a:t>
            </a:r>
            <a:r>
              <a:rPr lang="en-US" sz="27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государственное</a:t>
            </a:r>
            <a:r>
              <a:rPr lang="en-US" sz="27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бюджетное</a:t>
            </a:r>
            <a:r>
              <a:rPr lang="en-US" sz="27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образовательное</a:t>
            </a:r>
            <a:r>
              <a:rPr lang="en-US" sz="27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учреждение</a:t>
            </a:r>
            <a:r>
              <a:rPr lang="en-US" sz="27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 algn="ctr">
              <a:lnSpc>
                <a:spcPts val="3240"/>
              </a:lnSpc>
            </a:pPr>
            <a:r>
              <a:rPr lang="en-US" sz="27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высшего</a:t>
            </a:r>
            <a:r>
              <a:rPr lang="en-US" sz="27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образования</a:t>
            </a:r>
            <a:endParaRPr lang="en-US" sz="27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lnSpc>
                <a:spcPts val="3240"/>
              </a:lnSpc>
            </a:pPr>
            <a:r>
              <a:rPr lang="en-US" sz="27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«</a:t>
            </a:r>
            <a:r>
              <a:rPr lang="en-US" sz="27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Тверской</a:t>
            </a:r>
            <a:r>
              <a:rPr lang="en-US" sz="27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государственный</a:t>
            </a:r>
            <a:r>
              <a:rPr lang="en-US" sz="27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технический</a:t>
            </a:r>
            <a:r>
              <a:rPr lang="en-US" sz="27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университет</a:t>
            </a:r>
            <a:r>
              <a:rPr lang="en-US" sz="27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» </a:t>
            </a:r>
          </a:p>
          <a:p>
            <a:pPr algn="ctr">
              <a:lnSpc>
                <a:spcPts val="3240"/>
              </a:lnSpc>
            </a:pPr>
            <a:r>
              <a:rPr lang="en-US" sz="27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7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ТвГТУ</a:t>
            </a:r>
            <a:r>
              <a:rPr lang="en-US" sz="27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</a:p>
          <a:p>
            <a:pPr algn="ctr">
              <a:lnSpc>
                <a:spcPts val="3240"/>
              </a:lnSpc>
            </a:pPr>
            <a:r>
              <a:rPr lang="en-US" sz="27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Кафедра</a:t>
            </a:r>
            <a:r>
              <a:rPr lang="en-US" sz="27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Программного</a:t>
            </a:r>
            <a:r>
              <a:rPr lang="en-US" sz="27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обеспечения</a:t>
            </a:r>
            <a:r>
              <a:rPr lang="en-US" sz="27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45512" y="4156148"/>
            <a:ext cx="16196986" cy="1668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Курсовая работа </a:t>
            </a:r>
          </a:p>
          <a:p>
            <a:pPr algn="ctr">
              <a:lnSpc>
                <a:spcPts val="4200"/>
              </a:lnSpc>
            </a:pPr>
            <a:r>
              <a:rPr lang="en-US" sz="3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На тему: «Разработка программной системы распознавания изображений на основе алгоритма k-ближайших соседей с использованием k-мерного дерева»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2426582" y="7536218"/>
            <a:ext cx="5393912" cy="1899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Выполнил: Лёвкин Д.А.</a:t>
            </a:r>
          </a:p>
          <a:p>
            <a:pPr algn="r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Группа: Б.ПИН.ИИ.24.16</a:t>
            </a:r>
          </a:p>
          <a:p>
            <a:pPr algn="r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Проверил: Мальков А.А.</a:t>
            </a:r>
          </a:p>
          <a:p>
            <a:pPr algn="l">
              <a:lnSpc>
                <a:spcPts val="3600"/>
              </a:lnSpc>
            </a:pPr>
            <a:endParaRPr lang="en-US" sz="3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EEEF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0" y="471707"/>
            <a:ext cx="18288000" cy="8308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937"/>
              </a:lnSpc>
            </a:pPr>
            <a:r>
              <a:rPr lang="en-US" sz="5562" dirty="0" err="1">
                <a:solidFill>
                  <a:srgbClr val="091C5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Актуальность</a:t>
            </a:r>
            <a:r>
              <a:rPr lang="en-US" sz="5562" dirty="0">
                <a:solidFill>
                  <a:srgbClr val="091C5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5562" dirty="0" err="1">
                <a:solidFill>
                  <a:srgbClr val="091C5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задачи</a:t>
            </a:r>
            <a:endParaRPr lang="en-US" sz="5562" dirty="0">
              <a:solidFill>
                <a:srgbClr val="091C5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981666" y="3435829"/>
            <a:ext cx="5528967" cy="8456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Базовая</a:t>
            </a:r>
            <a:r>
              <a:rPr lang="en-US" sz="275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75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задача</a:t>
            </a:r>
            <a:r>
              <a:rPr lang="en-US" sz="275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75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компьютерного</a:t>
            </a:r>
            <a:r>
              <a:rPr lang="en-US" sz="275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75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зрения</a:t>
            </a:r>
            <a:endParaRPr lang="en-US" sz="2750" dirty="0">
              <a:solidFill>
                <a:srgbClr val="1E306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981666" y="4425086"/>
            <a:ext cx="4678413" cy="2372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Распознавание изображений лежит в основе OCR, детекции объектов, классификации и анализа визуальной информации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510633" y="3435829"/>
            <a:ext cx="4678413" cy="923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Требования</a:t>
            </a:r>
            <a:r>
              <a:rPr lang="en-US" sz="275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75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реальных</a:t>
            </a:r>
            <a:r>
              <a:rPr lang="en-US" sz="275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75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систем</a:t>
            </a:r>
            <a:endParaRPr lang="en-US" sz="2750" dirty="0">
              <a:solidFill>
                <a:srgbClr val="1E306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6510633" y="4425086"/>
            <a:ext cx="4678413" cy="1919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Контроль доступа, сканеры документов, медицинская диагностика — все требуют быстрых и объяснимых методов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039590" y="3435829"/>
            <a:ext cx="3544043" cy="481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Понимание изнутри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062128" y="4425086"/>
            <a:ext cx="4678413" cy="2372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Готовые</a:t>
            </a:r>
            <a:r>
              <a:rPr lang="en-US" sz="2187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ML-</a:t>
            </a:r>
            <a:r>
              <a:rPr lang="en-US" sz="2187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решения</a:t>
            </a:r>
            <a:r>
              <a:rPr lang="en-US" sz="2187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(TensorFlow, scikit-learn) </a:t>
            </a:r>
            <a:r>
              <a:rPr lang="en-US" sz="2187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работают</a:t>
            </a:r>
            <a:r>
              <a:rPr lang="en-US" sz="2187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187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как</a:t>
            </a:r>
            <a:r>
              <a:rPr lang="en-US" sz="2187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«</a:t>
            </a:r>
            <a:r>
              <a:rPr lang="en-US" sz="2187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чёрный</a:t>
            </a:r>
            <a:r>
              <a:rPr lang="en-US" sz="2187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187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ящик</a:t>
            </a:r>
            <a:r>
              <a:rPr lang="en-US" sz="2187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» — </a:t>
            </a:r>
            <a:r>
              <a:rPr lang="en-US" sz="2187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важно</a:t>
            </a:r>
            <a:r>
              <a:rPr lang="en-US" sz="2187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187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понимать</a:t>
            </a:r>
            <a:r>
              <a:rPr lang="en-US" sz="2187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187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алгоритмы</a:t>
            </a:r>
            <a:r>
              <a:rPr lang="en-US" sz="2187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187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детально</a:t>
            </a:r>
            <a:endParaRPr lang="en-US" sz="2187" dirty="0">
              <a:solidFill>
                <a:srgbClr val="1E306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1FA5C46-7720-9228-7FF0-71F0D5C86D1C}"/>
              </a:ext>
            </a:extLst>
          </p:cNvPr>
          <p:cNvSpPr txBox="1"/>
          <p:nvPr/>
        </p:nvSpPr>
        <p:spPr>
          <a:xfrm>
            <a:off x="17602200" y="9791700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EEEF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5846140" y="750760"/>
            <a:ext cx="7088238" cy="830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37"/>
              </a:lnSpc>
            </a:pPr>
            <a:r>
              <a:rPr lang="en-US" sz="5562" dirty="0" err="1">
                <a:solidFill>
                  <a:srgbClr val="091C5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Целевая</a:t>
            </a:r>
            <a:r>
              <a:rPr lang="en-US" sz="5562" dirty="0">
                <a:solidFill>
                  <a:srgbClr val="091C5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5562" dirty="0" err="1">
                <a:solidFill>
                  <a:srgbClr val="091C5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аудитория</a:t>
            </a:r>
            <a:endParaRPr lang="en-US" sz="5562" dirty="0">
              <a:solidFill>
                <a:srgbClr val="091C5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973188" y="2342617"/>
            <a:ext cx="7569727" cy="2201618"/>
            <a:chOff x="0" y="0"/>
            <a:chExt cx="10092969" cy="2935491"/>
          </a:xfrm>
        </p:grpSpPr>
        <p:sp>
          <p:nvSpPr>
            <p:cNvPr id="8" name="Freeform 8"/>
            <p:cNvSpPr/>
            <p:nvPr/>
          </p:nvSpPr>
          <p:spPr>
            <a:xfrm>
              <a:off x="25400" y="25400"/>
              <a:ext cx="10042144" cy="2884678"/>
            </a:xfrm>
            <a:custGeom>
              <a:avLst/>
              <a:gdLst/>
              <a:ahLst/>
              <a:cxnLst/>
              <a:rect l="l" t="t" r="r" b="b"/>
              <a:pathLst>
                <a:path w="10042144" h="2884678">
                  <a:moveTo>
                    <a:pt x="0" y="243840"/>
                  </a:moveTo>
                  <a:cubicBezTo>
                    <a:pt x="0" y="109220"/>
                    <a:pt x="110490" y="0"/>
                    <a:pt x="246888" y="0"/>
                  </a:cubicBezTo>
                  <a:lnTo>
                    <a:pt x="9795256" y="0"/>
                  </a:lnTo>
                  <a:cubicBezTo>
                    <a:pt x="9931654" y="0"/>
                    <a:pt x="10042144" y="109220"/>
                    <a:pt x="10042144" y="243840"/>
                  </a:cubicBezTo>
                  <a:lnTo>
                    <a:pt x="10042144" y="2640838"/>
                  </a:lnTo>
                  <a:cubicBezTo>
                    <a:pt x="10042144" y="2775458"/>
                    <a:pt x="9931654" y="2884678"/>
                    <a:pt x="9795256" y="2884678"/>
                  </a:cubicBezTo>
                  <a:lnTo>
                    <a:pt x="246888" y="2884678"/>
                  </a:lnTo>
                  <a:cubicBezTo>
                    <a:pt x="110490" y="2884678"/>
                    <a:pt x="0" y="2775458"/>
                    <a:pt x="0" y="264083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0" y="0"/>
              <a:ext cx="10092944" cy="2935478"/>
            </a:xfrm>
            <a:custGeom>
              <a:avLst/>
              <a:gdLst/>
              <a:ahLst/>
              <a:cxnLst/>
              <a:rect l="l" t="t" r="r" b="b"/>
              <a:pathLst>
                <a:path w="10092944" h="2935478">
                  <a:moveTo>
                    <a:pt x="0" y="269240"/>
                  </a:moveTo>
                  <a:cubicBezTo>
                    <a:pt x="0" y="120269"/>
                    <a:pt x="122174" y="0"/>
                    <a:pt x="272288" y="0"/>
                  </a:cubicBezTo>
                  <a:lnTo>
                    <a:pt x="9820656" y="0"/>
                  </a:lnTo>
                  <a:lnTo>
                    <a:pt x="9820656" y="25400"/>
                  </a:lnTo>
                  <a:lnTo>
                    <a:pt x="9820656" y="0"/>
                  </a:lnTo>
                  <a:cubicBezTo>
                    <a:pt x="9970770" y="0"/>
                    <a:pt x="10092944" y="120269"/>
                    <a:pt x="10092944" y="269240"/>
                  </a:cubicBezTo>
                  <a:lnTo>
                    <a:pt x="10067544" y="269240"/>
                  </a:lnTo>
                  <a:lnTo>
                    <a:pt x="10092944" y="269240"/>
                  </a:lnTo>
                  <a:lnTo>
                    <a:pt x="10092944" y="2666238"/>
                  </a:lnTo>
                  <a:lnTo>
                    <a:pt x="10067544" y="2666238"/>
                  </a:lnTo>
                  <a:lnTo>
                    <a:pt x="10092944" y="2666238"/>
                  </a:lnTo>
                  <a:cubicBezTo>
                    <a:pt x="10092944" y="2815209"/>
                    <a:pt x="9970770" y="2935478"/>
                    <a:pt x="9820656" y="2935478"/>
                  </a:cubicBezTo>
                  <a:lnTo>
                    <a:pt x="9820656" y="2910078"/>
                  </a:lnTo>
                  <a:lnTo>
                    <a:pt x="9820656" y="2935478"/>
                  </a:lnTo>
                  <a:lnTo>
                    <a:pt x="272288" y="2935478"/>
                  </a:lnTo>
                  <a:lnTo>
                    <a:pt x="272288" y="2910078"/>
                  </a:lnTo>
                  <a:lnTo>
                    <a:pt x="272288" y="2935478"/>
                  </a:lnTo>
                  <a:cubicBezTo>
                    <a:pt x="122174" y="2935478"/>
                    <a:pt x="0" y="2815209"/>
                    <a:pt x="0" y="2666238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2666238"/>
                  </a:lnTo>
                  <a:lnTo>
                    <a:pt x="25400" y="2666238"/>
                  </a:lnTo>
                  <a:lnTo>
                    <a:pt x="50800" y="2666238"/>
                  </a:lnTo>
                  <a:cubicBezTo>
                    <a:pt x="50800" y="2786634"/>
                    <a:pt x="149606" y="2884678"/>
                    <a:pt x="272288" y="2884678"/>
                  </a:cubicBezTo>
                  <a:lnTo>
                    <a:pt x="9820656" y="2884678"/>
                  </a:lnTo>
                  <a:cubicBezTo>
                    <a:pt x="9943338" y="2884678"/>
                    <a:pt x="10042144" y="2786634"/>
                    <a:pt x="10042144" y="2666238"/>
                  </a:cubicBezTo>
                  <a:lnTo>
                    <a:pt x="10042144" y="269240"/>
                  </a:lnTo>
                  <a:cubicBezTo>
                    <a:pt x="10042144" y="148844"/>
                    <a:pt x="9943338" y="50800"/>
                    <a:pt x="9820656" y="50800"/>
                  </a:cubicBezTo>
                  <a:lnTo>
                    <a:pt x="272288" y="50800"/>
                  </a:lnTo>
                  <a:lnTo>
                    <a:pt x="272288" y="25400"/>
                  </a:lnTo>
                  <a:lnTo>
                    <a:pt x="272288" y="50800"/>
                  </a:lnTo>
                  <a:cubicBezTo>
                    <a:pt x="149606" y="50800"/>
                    <a:pt x="50800" y="148844"/>
                    <a:pt x="50800" y="269240"/>
                  </a:cubicBezTo>
                  <a:close/>
                </a:path>
              </a:pathLst>
            </a:custGeom>
            <a:solidFill>
              <a:srgbClr val="B4CCE3"/>
            </a:solidFill>
          </p:spPr>
        </p:sp>
      </p:grpSp>
      <p:sp>
        <p:nvSpPr>
          <p:cNvPr id="10" name="TextBox 10"/>
          <p:cNvSpPr txBox="1"/>
          <p:nvPr/>
        </p:nvSpPr>
        <p:spPr>
          <a:xfrm>
            <a:off x="1428159" y="2553738"/>
            <a:ext cx="4656830" cy="409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Студенты</a:t>
            </a:r>
            <a:endParaRPr lang="en-US" sz="2750" dirty="0">
              <a:solidFill>
                <a:srgbClr val="1E306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428159" y="3100092"/>
            <a:ext cx="6730917" cy="1305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Курсы «Алгоритмы и структуры данных» — наглядная демонстрация работы kNN и KD-Tree на практике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0097100" y="2342617"/>
            <a:ext cx="7462380" cy="2201618"/>
            <a:chOff x="0" y="0"/>
            <a:chExt cx="9949840" cy="2935491"/>
          </a:xfrm>
        </p:grpSpPr>
        <p:sp>
          <p:nvSpPr>
            <p:cNvPr id="13" name="Freeform 13"/>
            <p:cNvSpPr/>
            <p:nvPr/>
          </p:nvSpPr>
          <p:spPr>
            <a:xfrm>
              <a:off x="25400" y="25400"/>
              <a:ext cx="9899015" cy="2884678"/>
            </a:xfrm>
            <a:custGeom>
              <a:avLst/>
              <a:gdLst/>
              <a:ahLst/>
              <a:cxnLst/>
              <a:rect l="l" t="t" r="r" b="b"/>
              <a:pathLst>
                <a:path w="9899015" h="2884678">
                  <a:moveTo>
                    <a:pt x="0" y="243840"/>
                  </a:moveTo>
                  <a:cubicBezTo>
                    <a:pt x="0" y="109220"/>
                    <a:pt x="110490" y="0"/>
                    <a:pt x="246888" y="0"/>
                  </a:cubicBezTo>
                  <a:lnTo>
                    <a:pt x="9652127" y="0"/>
                  </a:lnTo>
                  <a:cubicBezTo>
                    <a:pt x="9788525" y="0"/>
                    <a:pt x="9899015" y="109220"/>
                    <a:pt x="9899015" y="243840"/>
                  </a:cubicBezTo>
                  <a:lnTo>
                    <a:pt x="9899015" y="2640838"/>
                  </a:lnTo>
                  <a:cubicBezTo>
                    <a:pt x="9899015" y="2775458"/>
                    <a:pt x="9788525" y="2884678"/>
                    <a:pt x="9652127" y="2884678"/>
                  </a:cubicBezTo>
                  <a:lnTo>
                    <a:pt x="246888" y="2884678"/>
                  </a:lnTo>
                  <a:cubicBezTo>
                    <a:pt x="110490" y="2884678"/>
                    <a:pt x="0" y="2775458"/>
                    <a:pt x="0" y="264083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4" name="Freeform 14"/>
            <p:cNvSpPr/>
            <p:nvPr/>
          </p:nvSpPr>
          <p:spPr>
            <a:xfrm>
              <a:off x="0" y="0"/>
              <a:ext cx="9949815" cy="2935478"/>
            </a:xfrm>
            <a:custGeom>
              <a:avLst/>
              <a:gdLst/>
              <a:ahLst/>
              <a:cxnLst/>
              <a:rect l="l" t="t" r="r" b="b"/>
              <a:pathLst>
                <a:path w="9949815" h="2935478">
                  <a:moveTo>
                    <a:pt x="0" y="269240"/>
                  </a:moveTo>
                  <a:cubicBezTo>
                    <a:pt x="0" y="120269"/>
                    <a:pt x="122174" y="0"/>
                    <a:pt x="272288" y="0"/>
                  </a:cubicBezTo>
                  <a:lnTo>
                    <a:pt x="9677527" y="0"/>
                  </a:lnTo>
                  <a:lnTo>
                    <a:pt x="9677527" y="25400"/>
                  </a:lnTo>
                  <a:lnTo>
                    <a:pt x="9677527" y="0"/>
                  </a:lnTo>
                  <a:cubicBezTo>
                    <a:pt x="9827641" y="0"/>
                    <a:pt x="9949815" y="120269"/>
                    <a:pt x="9949815" y="269240"/>
                  </a:cubicBezTo>
                  <a:lnTo>
                    <a:pt x="9924415" y="269240"/>
                  </a:lnTo>
                  <a:lnTo>
                    <a:pt x="9949815" y="269240"/>
                  </a:lnTo>
                  <a:lnTo>
                    <a:pt x="9949815" y="2666238"/>
                  </a:lnTo>
                  <a:lnTo>
                    <a:pt x="9924415" y="2666238"/>
                  </a:lnTo>
                  <a:lnTo>
                    <a:pt x="9949815" y="2666238"/>
                  </a:lnTo>
                  <a:cubicBezTo>
                    <a:pt x="9949815" y="2815209"/>
                    <a:pt x="9827641" y="2935478"/>
                    <a:pt x="9677527" y="2935478"/>
                  </a:cubicBezTo>
                  <a:lnTo>
                    <a:pt x="9677527" y="2910078"/>
                  </a:lnTo>
                  <a:lnTo>
                    <a:pt x="9677527" y="2935478"/>
                  </a:lnTo>
                  <a:lnTo>
                    <a:pt x="272288" y="2935478"/>
                  </a:lnTo>
                  <a:lnTo>
                    <a:pt x="272288" y="2910078"/>
                  </a:lnTo>
                  <a:lnTo>
                    <a:pt x="272288" y="2935478"/>
                  </a:lnTo>
                  <a:cubicBezTo>
                    <a:pt x="122174" y="2935478"/>
                    <a:pt x="0" y="2815209"/>
                    <a:pt x="0" y="2666238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2666238"/>
                  </a:lnTo>
                  <a:lnTo>
                    <a:pt x="25400" y="2666238"/>
                  </a:lnTo>
                  <a:lnTo>
                    <a:pt x="50800" y="2666238"/>
                  </a:lnTo>
                  <a:cubicBezTo>
                    <a:pt x="50800" y="2786634"/>
                    <a:pt x="149606" y="2884678"/>
                    <a:pt x="272288" y="2884678"/>
                  </a:cubicBezTo>
                  <a:lnTo>
                    <a:pt x="9677527" y="2884678"/>
                  </a:lnTo>
                  <a:cubicBezTo>
                    <a:pt x="9800082" y="2884678"/>
                    <a:pt x="9899015" y="2786634"/>
                    <a:pt x="9899015" y="2666238"/>
                  </a:cubicBezTo>
                  <a:lnTo>
                    <a:pt x="9899015" y="269240"/>
                  </a:lnTo>
                  <a:cubicBezTo>
                    <a:pt x="9899015" y="148844"/>
                    <a:pt x="9800209" y="50800"/>
                    <a:pt x="9677527" y="50800"/>
                  </a:cubicBezTo>
                  <a:lnTo>
                    <a:pt x="272288" y="50800"/>
                  </a:lnTo>
                  <a:lnTo>
                    <a:pt x="272288" y="25400"/>
                  </a:lnTo>
                  <a:lnTo>
                    <a:pt x="272288" y="50800"/>
                  </a:lnTo>
                  <a:cubicBezTo>
                    <a:pt x="149606" y="50800"/>
                    <a:pt x="50800" y="148844"/>
                    <a:pt x="50800" y="269240"/>
                  </a:cubicBezTo>
                  <a:close/>
                </a:path>
              </a:pathLst>
            </a:custGeom>
            <a:solidFill>
              <a:srgbClr val="B4CCE3"/>
            </a:solidFill>
          </p:spPr>
        </p:sp>
      </p:grpSp>
      <p:sp>
        <p:nvSpPr>
          <p:cNvPr id="15" name="TextBox 15"/>
          <p:cNvSpPr txBox="1"/>
          <p:nvPr/>
        </p:nvSpPr>
        <p:spPr>
          <a:xfrm>
            <a:off x="10320832" y="2650541"/>
            <a:ext cx="5681167" cy="409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Разработчики</a:t>
            </a:r>
            <a:r>
              <a:rPr lang="en-US" sz="275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75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прототипов</a:t>
            </a:r>
            <a:endParaRPr lang="en-US" sz="2750" dirty="0">
              <a:solidFill>
                <a:srgbClr val="1E306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0320833" y="3196885"/>
            <a:ext cx="6743700" cy="1012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Тем, кому не нужна тяжёлая инфраструктура нейронных сетей для начальной реализации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5389893" y="5054327"/>
            <a:ext cx="7508205" cy="2795483"/>
            <a:chOff x="0" y="0"/>
            <a:chExt cx="10010940" cy="3727310"/>
          </a:xfrm>
        </p:grpSpPr>
        <p:sp>
          <p:nvSpPr>
            <p:cNvPr id="18" name="Freeform 18"/>
            <p:cNvSpPr/>
            <p:nvPr/>
          </p:nvSpPr>
          <p:spPr>
            <a:xfrm>
              <a:off x="25400" y="25400"/>
              <a:ext cx="9960102" cy="3676523"/>
            </a:xfrm>
            <a:custGeom>
              <a:avLst/>
              <a:gdLst/>
              <a:ahLst/>
              <a:cxnLst/>
              <a:rect l="l" t="t" r="r" b="b"/>
              <a:pathLst>
                <a:path w="9960102" h="3676523">
                  <a:moveTo>
                    <a:pt x="0" y="310769"/>
                  </a:moveTo>
                  <a:cubicBezTo>
                    <a:pt x="0" y="139192"/>
                    <a:pt x="140335" y="0"/>
                    <a:pt x="313436" y="0"/>
                  </a:cubicBezTo>
                  <a:lnTo>
                    <a:pt x="9646666" y="0"/>
                  </a:lnTo>
                  <a:cubicBezTo>
                    <a:pt x="9819767" y="0"/>
                    <a:pt x="9960102" y="139192"/>
                    <a:pt x="9960102" y="310769"/>
                  </a:cubicBezTo>
                  <a:lnTo>
                    <a:pt x="9960102" y="3365754"/>
                  </a:lnTo>
                  <a:cubicBezTo>
                    <a:pt x="9960102" y="3537331"/>
                    <a:pt x="9819767" y="3676523"/>
                    <a:pt x="9646666" y="3676523"/>
                  </a:cubicBezTo>
                  <a:lnTo>
                    <a:pt x="313436" y="3676523"/>
                  </a:lnTo>
                  <a:cubicBezTo>
                    <a:pt x="140335" y="3676523"/>
                    <a:pt x="0" y="3537331"/>
                    <a:pt x="0" y="336575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9" name="Freeform 19"/>
            <p:cNvSpPr/>
            <p:nvPr/>
          </p:nvSpPr>
          <p:spPr>
            <a:xfrm>
              <a:off x="0" y="0"/>
              <a:ext cx="10010902" cy="3727323"/>
            </a:xfrm>
            <a:custGeom>
              <a:avLst/>
              <a:gdLst/>
              <a:ahLst/>
              <a:cxnLst/>
              <a:rect l="l" t="t" r="r" b="b"/>
              <a:pathLst>
                <a:path w="10010902" h="3727323">
                  <a:moveTo>
                    <a:pt x="0" y="336169"/>
                  </a:moveTo>
                  <a:cubicBezTo>
                    <a:pt x="0" y="150368"/>
                    <a:pt x="151892" y="0"/>
                    <a:pt x="338836" y="0"/>
                  </a:cubicBezTo>
                  <a:lnTo>
                    <a:pt x="9672066" y="0"/>
                  </a:lnTo>
                  <a:lnTo>
                    <a:pt x="9672066" y="25400"/>
                  </a:lnTo>
                  <a:lnTo>
                    <a:pt x="9672066" y="0"/>
                  </a:lnTo>
                  <a:cubicBezTo>
                    <a:pt x="9859011" y="0"/>
                    <a:pt x="10010902" y="150368"/>
                    <a:pt x="10010902" y="336169"/>
                  </a:cubicBezTo>
                  <a:lnTo>
                    <a:pt x="9985502" y="336169"/>
                  </a:lnTo>
                  <a:lnTo>
                    <a:pt x="10010902" y="336169"/>
                  </a:lnTo>
                  <a:lnTo>
                    <a:pt x="10010902" y="3391154"/>
                  </a:lnTo>
                  <a:lnTo>
                    <a:pt x="9985502" y="3391154"/>
                  </a:lnTo>
                  <a:lnTo>
                    <a:pt x="10010902" y="3391154"/>
                  </a:lnTo>
                  <a:cubicBezTo>
                    <a:pt x="10010902" y="3577082"/>
                    <a:pt x="9859011" y="3727323"/>
                    <a:pt x="9672066" y="3727323"/>
                  </a:cubicBezTo>
                  <a:lnTo>
                    <a:pt x="9672066" y="3701923"/>
                  </a:lnTo>
                  <a:lnTo>
                    <a:pt x="9672066" y="3727323"/>
                  </a:lnTo>
                  <a:lnTo>
                    <a:pt x="338836" y="3727323"/>
                  </a:lnTo>
                  <a:lnTo>
                    <a:pt x="338836" y="3701923"/>
                  </a:lnTo>
                  <a:lnTo>
                    <a:pt x="338836" y="3727323"/>
                  </a:lnTo>
                  <a:cubicBezTo>
                    <a:pt x="151892" y="3727323"/>
                    <a:pt x="0" y="3576955"/>
                    <a:pt x="0" y="3391154"/>
                  </a:cubicBezTo>
                  <a:lnTo>
                    <a:pt x="0" y="336169"/>
                  </a:lnTo>
                  <a:lnTo>
                    <a:pt x="25400" y="336169"/>
                  </a:lnTo>
                  <a:lnTo>
                    <a:pt x="0" y="336169"/>
                  </a:lnTo>
                  <a:moveTo>
                    <a:pt x="50800" y="336169"/>
                  </a:moveTo>
                  <a:lnTo>
                    <a:pt x="50800" y="3391154"/>
                  </a:lnTo>
                  <a:lnTo>
                    <a:pt x="25400" y="3391154"/>
                  </a:lnTo>
                  <a:lnTo>
                    <a:pt x="50800" y="3391154"/>
                  </a:lnTo>
                  <a:cubicBezTo>
                    <a:pt x="50800" y="3548507"/>
                    <a:pt x="179578" y="3676523"/>
                    <a:pt x="338836" y="3676523"/>
                  </a:cubicBezTo>
                  <a:lnTo>
                    <a:pt x="9672066" y="3676523"/>
                  </a:lnTo>
                  <a:cubicBezTo>
                    <a:pt x="9831324" y="3676523"/>
                    <a:pt x="9960102" y="3548507"/>
                    <a:pt x="9960102" y="3391154"/>
                  </a:cubicBezTo>
                  <a:lnTo>
                    <a:pt x="9960102" y="336169"/>
                  </a:lnTo>
                  <a:cubicBezTo>
                    <a:pt x="9960102" y="178816"/>
                    <a:pt x="9831324" y="50800"/>
                    <a:pt x="9672066" y="50800"/>
                  </a:cubicBezTo>
                  <a:lnTo>
                    <a:pt x="338836" y="50800"/>
                  </a:lnTo>
                  <a:lnTo>
                    <a:pt x="338836" y="25400"/>
                  </a:lnTo>
                  <a:lnTo>
                    <a:pt x="338836" y="50800"/>
                  </a:lnTo>
                  <a:cubicBezTo>
                    <a:pt x="179578" y="50800"/>
                    <a:pt x="50800" y="178816"/>
                    <a:pt x="50800" y="336169"/>
                  </a:cubicBezTo>
                  <a:close/>
                </a:path>
              </a:pathLst>
            </a:custGeom>
            <a:solidFill>
              <a:srgbClr val="B4CCE3"/>
            </a:solidFill>
          </p:spPr>
        </p:sp>
      </p:grpSp>
      <p:sp>
        <p:nvSpPr>
          <p:cNvPr id="20" name="TextBox 20"/>
          <p:cNvSpPr txBox="1"/>
          <p:nvPr/>
        </p:nvSpPr>
        <p:spPr>
          <a:xfrm>
            <a:off x="5954762" y="5355565"/>
            <a:ext cx="4789437" cy="409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Исследователи</a:t>
            </a:r>
            <a:r>
              <a:rPr lang="en-US" sz="275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75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алгоритмов</a:t>
            </a:r>
            <a:endParaRPr lang="en-US" sz="2750" dirty="0">
              <a:solidFill>
                <a:srgbClr val="1E306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5954763" y="5901909"/>
            <a:ext cx="6871002" cy="12610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Желающие</a:t>
            </a:r>
            <a:r>
              <a:rPr lang="en-US" sz="2187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187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сравнить</a:t>
            </a:r>
            <a:r>
              <a:rPr lang="en-US" sz="2187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187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эффективность</a:t>
            </a:r>
            <a:r>
              <a:rPr lang="en-US" sz="2187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KD-Tree </a:t>
            </a:r>
            <a:r>
              <a:rPr lang="en-US" sz="2187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относительно</a:t>
            </a:r>
            <a:r>
              <a:rPr lang="en-US" sz="2187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187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линейного</a:t>
            </a:r>
            <a:r>
              <a:rPr lang="en-US" sz="2187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187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перебора</a:t>
            </a:r>
            <a:r>
              <a:rPr lang="en-US" sz="2187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в </a:t>
            </a:r>
            <a:r>
              <a:rPr lang="en-US" sz="2187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поиске</a:t>
            </a:r>
            <a:r>
              <a:rPr lang="en-US" sz="2187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187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ближайших</a:t>
            </a:r>
            <a:r>
              <a:rPr lang="en-US" sz="2187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187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соседей</a:t>
            </a:r>
            <a:endParaRPr lang="en-US" sz="2187" dirty="0">
              <a:solidFill>
                <a:srgbClr val="1E306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1112B01-7FAC-CCF2-8F25-58A5EBD5C8F2}"/>
              </a:ext>
            </a:extLst>
          </p:cNvPr>
          <p:cNvSpPr txBox="1"/>
          <p:nvPr/>
        </p:nvSpPr>
        <p:spPr>
          <a:xfrm>
            <a:off x="17602200" y="9791700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EEEF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-25461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72445" y="742207"/>
            <a:ext cx="6892080" cy="782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25"/>
              </a:lnSpc>
            </a:pPr>
            <a:r>
              <a:rPr lang="en-US" sz="5400">
                <a:solidFill>
                  <a:srgbClr val="091C5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Цель и задачи проекта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72445" y="1549933"/>
            <a:ext cx="3751212" cy="8127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4000" dirty="0" err="1">
                <a:solidFill>
                  <a:srgbClr val="091C5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Цель</a:t>
            </a:r>
            <a:r>
              <a:rPr lang="en-US" sz="4000" dirty="0">
                <a:solidFill>
                  <a:srgbClr val="091C5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4000" dirty="0" err="1">
                <a:solidFill>
                  <a:srgbClr val="091C5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проекта</a:t>
            </a:r>
            <a:endParaRPr lang="en-US" sz="4000" dirty="0">
              <a:solidFill>
                <a:srgbClr val="091C5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972445" y="2400756"/>
            <a:ext cx="7866459" cy="1861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28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Разработать</a:t>
            </a:r>
            <a:r>
              <a:rPr lang="en-US" sz="28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полностью</a:t>
            </a:r>
            <a:r>
              <a:rPr lang="en-US" sz="28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рабочую</a:t>
            </a:r>
            <a:r>
              <a:rPr lang="en-US" sz="28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систему</a:t>
            </a:r>
            <a:r>
              <a:rPr lang="en-US" sz="28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распознавания</a:t>
            </a:r>
            <a:r>
              <a:rPr lang="en-US" sz="28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цифр</a:t>
            </a:r>
            <a:r>
              <a:rPr lang="en-US" sz="28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и </a:t>
            </a:r>
            <a:r>
              <a:rPr lang="en-US" sz="28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простых</a:t>
            </a:r>
            <a:r>
              <a:rPr lang="en-US" sz="28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геометрических</a:t>
            </a:r>
            <a:r>
              <a:rPr lang="en-US" sz="28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фигур</a:t>
            </a:r>
            <a:r>
              <a:rPr lang="en-US" sz="28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без</a:t>
            </a:r>
            <a:r>
              <a:rPr lang="en-US" sz="28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использования</a:t>
            </a:r>
            <a:r>
              <a:rPr lang="en-US" sz="28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готовых</a:t>
            </a:r>
            <a:r>
              <a:rPr lang="en-US" sz="28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ML-</a:t>
            </a:r>
            <a:r>
              <a:rPr lang="en-US" sz="28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библиотек</a:t>
            </a:r>
            <a:endParaRPr lang="en-US" sz="2800" dirty="0">
              <a:solidFill>
                <a:srgbClr val="1E306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972445" y="4170224"/>
            <a:ext cx="7561955" cy="8127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4000" dirty="0" err="1">
                <a:solidFill>
                  <a:srgbClr val="091C5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Поставленные</a:t>
            </a:r>
            <a:r>
              <a:rPr lang="en-US" sz="4000" dirty="0">
                <a:solidFill>
                  <a:srgbClr val="091C5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4000" dirty="0" err="1">
                <a:solidFill>
                  <a:srgbClr val="091C5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задачи</a:t>
            </a:r>
            <a:endParaRPr lang="en-US" sz="4000" dirty="0">
              <a:solidFill>
                <a:srgbClr val="091C5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972445" y="4982947"/>
            <a:ext cx="7866459" cy="38005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92199" lvl="1" indent="-146100" algn="l">
              <a:lnSpc>
                <a:spcPct val="150000"/>
              </a:lnSpc>
              <a:buFont typeface="Arial"/>
              <a:buChar char="•"/>
            </a:pPr>
            <a:r>
              <a:rPr lang="en-US" sz="28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Реализовать</a:t>
            </a:r>
            <a:r>
              <a:rPr lang="en-US" sz="28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kNN</a:t>
            </a:r>
            <a:r>
              <a:rPr lang="en-US" sz="28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и KD-Tree </a:t>
            </a:r>
            <a:r>
              <a:rPr lang="en-US" sz="28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вручную</a:t>
            </a:r>
            <a:r>
              <a:rPr lang="en-US" sz="28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на</a:t>
            </a:r>
            <a:r>
              <a:rPr lang="en-US" sz="28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C#, </a:t>
            </a:r>
            <a:r>
              <a:rPr lang="en-US" sz="28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изучить</a:t>
            </a:r>
            <a:r>
              <a:rPr lang="en-US" sz="28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алгоритмическую</a:t>
            </a:r>
            <a:r>
              <a:rPr lang="en-US" sz="28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сложность</a:t>
            </a:r>
            <a:r>
              <a:rPr lang="en-US" sz="28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и </a:t>
            </a:r>
            <a:r>
              <a:rPr lang="en-US" sz="28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ограничения</a:t>
            </a:r>
            <a:endParaRPr lang="en-US" sz="2800" dirty="0">
              <a:solidFill>
                <a:srgbClr val="1E306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92199" lvl="1" indent="-146100" algn="l">
              <a:lnSpc>
                <a:spcPct val="150000"/>
              </a:lnSpc>
              <a:buFont typeface="Arial"/>
              <a:buChar char="•"/>
            </a:pPr>
            <a:r>
              <a:rPr lang="en-US" sz="28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Спроектировать</a:t>
            </a:r>
            <a:r>
              <a:rPr lang="en-US" sz="28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базу</a:t>
            </a:r>
            <a:r>
              <a:rPr lang="en-US" sz="28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данных</a:t>
            </a:r>
            <a:r>
              <a:rPr lang="en-US" sz="28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PostgreSQL</a:t>
            </a:r>
          </a:p>
          <a:p>
            <a:pPr marL="292199" lvl="1" indent="-146100" algn="l">
              <a:lnSpc>
                <a:spcPct val="150000"/>
              </a:lnSpc>
              <a:buFont typeface="Arial"/>
              <a:buChar char="•"/>
            </a:pPr>
            <a:r>
              <a:rPr lang="en-US" sz="28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Разработать</a:t>
            </a:r>
            <a:r>
              <a:rPr lang="en-US" sz="28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WPF-</a:t>
            </a:r>
            <a:r>
              <a:rPr lang="en-US" sz="28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интерфейс</a:t>
            </a:r>
            <a:r>
              <a:rPr lang="en-US" sz="28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и </a:t>
            </a:r>
            <a:r>
              <a:rPr lang="en-US" sz="28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проведение</a:t>
            </a:r>
            <a:r>
              <a:rPr lang="en-US" sz="28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замеров</a:t>
            </a:r>
            <a:r>
              <a:rPr lang="en-US" sz="28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времени</a:t>
            </a:r>
            <a:endParaRPr lang="en-US" sz="2800" dirty="0">
              <a:solidFill>
                <a:srgbClr val="1E306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B3810B-842A-1FF8-AB2D-2DD46CB68588}"/>
              </a:ext>
            </a:extLst>
          </p:cNvPr>
          <p:cNvSpPr txBox="1"/>
          <p:nvPr/>
        </p:nvSpPr>
        <p:spPr>
          <a:xfrm>
            <a:off x="17602200" y="9791700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EEEF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238" y="798614"/>
            <a:ext cx="16341700" cy="1651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9"/>
              </a:lnSpc>
            </a:pPr>
            <a:r>
              <a:rPr lang="en-US" sz="4999">
                <a:solidFill>
                  <a:srgbClr val="091C5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Недостатки существующих решений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54062" y="3177626"/>
            <a:ext cx="4607871" cy="3407721"/>
            <a:chOff x="0" y="0"/>
            <a:chExt cx="6143828" cy="454362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143879" cy="4543679"/>
            </a:xfrm>
            <a:custGeom>
              <a:avLst/>
              <a:gdLst/>
              <a:ahLst/>
              <a:cxnLst/>
              <a:rect l="l" t="t" r="r" b="b"/>
              <a:pathLst>
                <a:path w="6143879" h="4543679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5960999" y="0"/>
                  </a:lnTo>
                  <a:cubicBezTo>
                    <a:pt x="6061964" y="0"/>
                    <a:pt x="6143879" y="81915"/>
                    <a:pt x="6143879" y="182880"/>
                  </a:cubicBezTo>
                  <a:lnTo>
                    <a:pt x="6143879" y="4360799"/>
                  </a:lnTo>
                  <a:cubicBezTo>
                    <a:pt x="6143879" y="4461764"/>
                    <a:pt x="6061964" y="4543679"/>
                    <a:pt x="5960999" y="4543679"/>
                  </a:cubicBezTo>
                  <a:lnTo>
                    <a:pt x="182880" y="4543679"/>
                  </a:lnTo>
                  <a:cubicBezTo>
                    <a:pt x="81915" y="4543679"/>
                    <a:pt x="0" y="4461764"/>
                    <a:pt x="0" y="436079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9" name="TextBox 9"/>
          <p:cNvSpPr txBox="1"/>
          <p:nvPr/>
        </p:nvSpPr>
        <p:spPr>
          <a:xfrm>
            <a:off x="1275902" y="3786930"/>
            <a:ext cx="4040534" cy="8257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Линейный поиск — O(n) на запрос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75902" y="4674098"/>
            <a:ext cx="4040534" cy="16275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При тысячах обучающих примеров время ожидания становится критическим для пользователей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971786" y="3786930"/>
            <a:ext cx="4040686" cy="8257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ML-фреймворки — зависимость и сложность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971786" y="4674098"/>
            <a:ext cx="4040686" cy="16275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Проблемы версионирования, сложная настройка окружения, трудности объяснения на защите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422287" y="4013159"/>
            <a:ext cx="4189276" cy="3732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Учебные</a:t>
            </a:r>
            <a:r>
              <a:rPr lang="en-US" sz="2499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99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примеры</a:t>
            </a:r>
            <a:r>
              <a:rPr lang="en-US" sz="2499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99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на</a:t>
            </a:r>
            <a:r>
              <a:rPr lang="en-US" sz="2499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Python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422324" y="4717551"/>
            <a:ext cx="4911614" cy="851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Отсутствие</a:t>
            </a:r>
            <a:r>
              <a:rPr lang="en-US" sz="20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полноценной</a:t>
            </a:r>
            <a:r>
              <a:rPr lang="en-US" sz="20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реализации</a:t>
            </a:r>
            <a:r>
              <a:rPr lang="en-US" sz="20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на</a:t>
            </a:r>
            <a:r>
              <a:rPr lang="en-US" sz="20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C# с </a:t>
            </a:r>
            <a:r>
              <a:rPr lang="en-US" sz="20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базой</a:t>
            </a:r>
            <a:r>
              <a:rPr lang="en-US" sz="20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данных</a:t>
            </a:r>
            <a:r>
              <a:rPr lang="en-US" sz="20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и </a:t>
            </a:r>
            <a:r>
              <a:rPr lang="en-US" sz="20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пользовательским</a:t>
            </a:r>
            <a:r>
              <a:rPr lang="en-US" sz="20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интерфейсом</a:t>
            </a:r>
            <a:endParaRPr lang="en-US" sz="2000" dirty="0">
              <a:solidFill>
                <a:srgbClr val="1E306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48C873B-80AB-415B-A835-C63C91E24125}"/>
              </a:ext>
            </a:extLst>
          </p:cNvPr>
          <p:cNvSpPr txBox="1"/>
          <p:nvPr/>
        </p:nvSpPr>
        <p:spPr>
          <a:xfrm>
            <a:off x="17602200" y="9791700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EEEF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238" y="813797"/>
            <a:ext cx="7010248" cy="9084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25"/>
              </a:lnSpc>
            </a:pPr>
            <a:r>
              <a:rPr lang="en-US" sz="5250">
                <a:solidFill>
                  <a:srgbClr val="091C5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Архитектура системы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238" y="2148183"/>
            <a:ext cx="16303523" cy="410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8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Проект</a:t>
            </a:r>
            <a:r>
              <a:rPr lang="en-US" sz="28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построен</a:t>
            </a:r>
            <a:r>
              <a:rPr lang="en-US" sz="28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</a:t>
            </a:r>
            <a:r>
              <a:rPr lang="en-US" sz="28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принципам</a:t>
            </a:r>
            <a:r>
              <a:rPr lang="en-US" sz="28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чистой</a:t>
            </a:r>
            <a:r>
              <a:rPr lang="en-US" sz="28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архитектуры</a:t>
            </a:r>
            <a:r>
              <a:rPr lang="en-US" sz="28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с </a:t>
            </a:r>
            <a:r>
              <a:rPr lang="en-US" sz="28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чётким</a:t>
            </a:r>
            <a:r>
              <a:rPr lang="en-US" sz="28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разделением</a:t>
            </a:r>
            <a:r>
              <a:rPr lang="en-US" sz="28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ответственностей</a:t>
            </a:r>
            <a:endParaRPr lang="en-US" sz="2800" dirty="0">
              <a:solidFill>
                <a:srgbClr val="1E306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992238" y="3140774"/>
            <a:ext cx="3366935" cy="423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32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UI (WPF)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2238" y="3667325"/>
            <a:ext cx="14700942" cy="820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8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Загрузка</a:t>
            </a:r>
            <a:r>
              <a:rPr lang="en-US" sz="28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изображений</a:t>
            </a:r>
            <a:r>
              <a:rPr lang="en-US" sz="28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8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выбор</a:t>
            </a:r>
            <a:r>
              <a:rPr lang="en-US" sz="28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k, </a:t>
            </a:r>
            <a:r>
              <a:rPr lang="en-US" sz="28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запуск</a:t>
            </a:r>
            <a:r>
              <a:rPr lang="en-US" sz="28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обучения</a:t>
            </a:r>
            <a:r>
              <a:rPr lang="en-US" sz="28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и </a:t>
            </a:r>
            <a:r>
              <a:rPr lang="en-US" sz="28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классификации</a:t>
            </a:r>
            <a:r>
              <a:rPr lang="en-US" sz="28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8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вывод</a:t>
            </a:r>
            <a:r>
              <a:rPr lang="en-US" sz="28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результатов</a:t>
            </a:r>
            <a:r>
              <a:rPr lang="en-US" sz="28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и </a:t>
            </a:r>
            <a:r>
              <a:rPr lang="en-US" sz="28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времени</a:t>
            </a:r>
            <a:endParaRPr lang="en-US" sz="2800" dirty="0">
              <a:solidFill>
                <a:srgbClr val="1E306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992238" y="4756890"/>
            <a:ext cx="3366935" cy="423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320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Application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92238" y="5283451"/>
            <a:ext cx="14700942" cy="820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8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Сервисы</a:t>
            </a:r>
            <a:r>
              <a:rPr lang="en-US" sz="28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извлечения</a:t>
            </a:r>
            <a:r>
              <a:rPr lang="en-US" sz="28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признаков</a:t>
            </a:r>
            <a:r>
              <a:rPr lang="en-US" sz="28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(16×16, grayscale), </a:t>
            </a:r>
            <a:r>
              <a:rPr lang="en-US" sz="28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обучение</a:t>
            </a:r>
            <a:r>
              <a:rPr lang="en-US" sz="28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модели</a:t>
            </a:r>
            <a:r>
              <a:rPr lang="en-US" sz="28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8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классификация</a:t>
            </a:r>
            <a:r>
              <a:rPr lang="en-US" sz="28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изображений</a:t>
            </a:r>
            <a:endParaRPr lang="en-US" sz="2800" dirty="0">
              <a:solidFill>
                <a:srgbClr val="1E306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992238" y="6373016"/>
            <a:ext cx="3366935" cy="423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32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Domain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92238" y="6899577"/>
            <a:ext cx="14700942" cy="820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8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KDNode</a:t>
            </a:r>
            <a:r>
              <a:rPr lang="en-US" sz="28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8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KDTree</a:t>
            </a:r>
            <a:r>
              <a:rPr lang="en-US" sz="28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8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KNearestNeighbors</a:t>
            </a:r>
            <a:r>
              <a:rPr lang="en-US" sz="28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8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DistanceCalculator</a:t>
            </a:r>
            <a:r>
              <a:rPr lang="en-US" sz="28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— </a:t>
            </a:r>
            <a:r>
              <a:rPr lang="en-US" sz="28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чистая</a:t>
            </a:r>
            <a:r>
              <a:rPr lang="en-US" sz="28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реализация</a:t>
            </a:r>
            <a:r>
              <a:rPr lang="en-US" sz="28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без</a:t>
            </a:r>
            <a:r>
              <a:rPr lang="en-US" sz="28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внешних</a:t>
            </a:r>
            <a:r>
              <a:rPr lang="en-US" sz="28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зависимостей</a:t>
            </a:r>
            <a:endParaRPr lang="en-US" sz="2800" dirty="0">
              <a:solidFill>
                <a:srgbClr val="1E306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992238" y="7989141"/>
            <a:ext cx="3366935" cy="423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320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Infrastructure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92238" y="8515693"/>
            <a:ext cx="14700942" cy="410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8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PostgreSQL, </a:t>
            </a:r>
            <a:r>
              <a:rPr lang="en-US" sz="28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Npgsql</a:t>
            </a:r>
            <a:r>
              <a:rPr lang="en-US" sz="28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8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таблицы</a:t>
            </a:r>
            <a:r>
              <a:rPr lang="en-US" sz="28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classes, images, features, models, experiments, predictions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F267AE6-3ADA-1F7D-C99C-9C92EC0E7085}"/>
              </a:ext>
            </a:extLst>
          </p:cNvPr>
          <p:cNvSpPr txBox="1"/>
          <p:nvPr/>
        </p:nvSpPr>
        <p:spPr>
          <a:xfrm>
            <a:off x="17602200" y="9791700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EEEF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238" y="867518"/>
            <a:ext cx="8814197" cy="9084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25"/>
              </a:lnSpc>
            </a:pPr>
            <a:r>
              <a:rPr lang="en-US" sz="5250">
                <a:solidFill>
                  <a:srgbClr val="091C5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Используемые технологии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238" y="2121694"/>
            <a:ext cx="3366935" cy="4588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625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C#, .NET, WPF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92238" y="2648245"/>
            <a:ext cx="8452399" cy="926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062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Основной стек разработки приложения с графическим интерфейсом пользователя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2238" y="4047830"/>
            <a:ext cx="3366935" cy="4588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625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PostgreSQL, Npgsql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92238" y="4574381"/>
            <a:ext cx="8452399" cy="926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062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Хранение классов, изображений, векторов признаков, экспериментов и результатов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92238" y="5973966"/>
            <a:ext cx="3366935" cy="4588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625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System.Drawing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92238" y="6500517"/>
            <a:ext cx="8452399" cy="926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062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Загрузка и преобразование изображений (resize, grayscale, нормализация)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92238" y="7900092"/>
            <a:ext cx="3366935" cy="4588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625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kNN и KD-Tree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92238" y="8426653"/>
            <a:ext cx="8452399" cy="926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062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Полностью реализованы вручную без ML.NET и других ML-библиотек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653877C-7F86-46F5-0931-2F3D4CBE2760}"/>
              </a:ext>
            </a:extLst>
          </p:cNvPr>
          <p:cNvSpPr txBox="1"/>
          <p:nvPr/>
        </p:nvSpPr>
        <p:spPr>
          <a:xfrm>
            <a:off x="17602200" y="9791700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531E7078-FEFE-432F-85ED-98D9C2C13A0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2" y="1507775"/>
            <a:ext cx="18277268" cy="6896628"/>
          </a:xfrm>
          <a:prstGeom prst="rect">
            <a:avLst/>
          </a:prstGeom>
        </p:spPr>
      </p:pic>
      <p:sp>
        <p:nvSpPr>
          <p:cNvPr id="2" name="TextBox 8">
            <a:extLst>
              <a:ext uri="{FF2B5EF4-FFF2-40B4-BE49-F238E27FC236}">
                <a16:creationId xmlns:a16="http://schemas.microsoft.com/office/drawing/2014/main" id="{AE379806-F34A-A511-142F-B48AB72391D3}"/>
              </a:ext>
            </a:extLst>
          </p:cNvPr>
          <p:cNvSpPr txBox="1"/>
          <p:nvPr/>
        </p:nvSpPr>
        <p:spPr>
          <a:xfrm>
            <a:off x="6656412" y="571500"/>
            <a:ext cx="4975174" cy="587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75"/>
              </a:lnSpc>
            </a:pPr>
            <a:r>
              <a:rPr lang="en-US" sz="3875" dirty="0" err="1">
                <a:solidFill>
                  <a:srgbClr val="091C5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Диаграммы</a:t>
            </a:r>
            <a:r>
              <a:rPr lang="en-US" sz="3875" dirty="0">
                <a:solidFill>
                  <a:srgbClr val="091C5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875" dirty="0" err="1">
                <a:solidFill>
                  <a:srgbClr val="091C5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системы</a:t>
            </a:r>
            <a:endParaRPr lang="en-US" sz="3875" dirty="0">
              <a:solidFill>
                <a:srgbClr val="091C5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D33B1F-872B-5CFA-9EAD-FBB2CBB9321B}"/>
              </a:ext>
            </a:extLst>
          </p:cNvPr>
          <p:cNvSpPr txBox="1"/>
          <p:nvPr/>
        </p:nvSpPr>
        <p:spPr>
          <a:xfrm>
            <a:off x="17602200" y="9791700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5919398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2813F1D-DCB9-FA2C-1E6D-FF4C2C4EE9A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8158" y="919680"/>
            <a:ext cx="11711683" cy="9367320"/>
          </a:xfrm>
          <a:prstGeom prst="rect">
            <a:avLst/>
          </a:prstGeom>
        </p:spPr>
      </p:pic>
      <p:sp>
        <p:nvSpPr>
          <p:cNvPr id="2" name="TextBox 8">
            <a:extLst>
              <a:ext uri="{FF2B5EF4-FFF2-40B4-BE49-F238E27FC236}">
                <a16:creationId xmlns:a16="http://schemas.microsoft.com/office/drawing/2014/main" id="{10B3E3CF-5F84-9727-C3ED-E7BFD2231A12}"/>
              </a:ext>
            </a:extLst>
          </p:cNvPr>
          <p:cNvSpPr txBox="1"/>
          <p:nvPr/>
        </p:nvSpPr>
        <p:spPr>
          <a:xfrm>
            <a:off x="6656413" y="275253"/>
            <a:ext cx="4975174" cy="587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75"/>
              </a:lnSpc>
            </a:pPr>
            <a:r>
              <a:rPr lang="en-US" sz="3875" dirty="0" err="1">
                <a:solidFill>
                  <a:srgbClr val="091C5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Диаграммы</a:t>
            </a:r>
            <a:r>
              <a:rPr lang="en-US" sz="3875" dirty="0">
                <a:solidFill>
                  <a:srgbClr val="091C5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875" dirty="0" err="1">
                <a:solidFill>
                  <a:srgbClr val="091C5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системы</a:t>
            </a:r>
            <a:endParaRPr lang="en-US" sz="3875" dirty="0">
              <a:solidFill>
                <a:srgbClr val="091C5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49F35B-5571-B5FB-CBF4-B3F610FC9544}"/>
              </a:ext>
            </a:extLst>
          </p:cNvPr>
          <p:cNvSpPr txBox="1"/>
          <p:nvPr/>
        </p:nvSpPr>
        <p:spPr>
          <a:xfrm>
            <a:off x="17602200" y="9791700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0416206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0E53F90-7E8D-AB8C-E87E-4FDA02E8D04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2972" y="739499"/>
            <a:ext cx="11162228" cy="9551948"/>
          </a:xfrm>
          <a:prstGeom prst="rect">
            <a:avLst/>
          </a:prstGeom>
        </p:spPr>
      </p:pic>
      <p:sp>
        <p:nvSpPr>
          <p:cNvPr id="4" name="TextBox 8">
            <a:extLst>
              <a:ext uri="{FF2B5EF4-FFF2-40B4-BE49-F238E27FC236}">
                <a16:creationId xmlns:a16="http://schemas.microsoft.com/office/drawing/2014/main" id="{E46607A4-9DD2-1480-5CD3-77D47913633E}"/>
              </a:ext>
            </a:extLst>
          </p:cNvPr>
          <p:cNvSpPr txBox="1"/>
          <p:nvPr/>
        </p:nvSpPr>
        <p:spPr>
          <a:xfrm>
            <a:off x="6656413" y="266700"/>
            <a:ext cx="4975174" cy="587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75"/>
              </a:lnSpc>
            </a:pPr>
            <a:r>
              <a:rPr lang="en-US" sz="3875" dirty="0">
                <a:solidFill>
                  <a:srgbClr val="091C5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Er</a:t>
            </a:r>
            <a:r>
              <a:rPr lang="ru-RU" sz="3875" dirty="0">
                <a:solidFill>
                  <a:srgbClr val="091C5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диаграмма </a:t>
            </a:r>
            <a:r>
              <a:rPr lang="ru-RU" sz="3875" dirty="0" err="1">
                <a:solidFill>
                  <a:srgbClr val="091C5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бд</a:t>
            </a:r>
            <a:endParaRPr lang="en-US" sz="3875" dirty="0">
              <a:solidFill>
                <a:srgbClr val="091C5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04B2868-AF80-61D8-EB17-6452E718605C}"/>
              </a:ext>
            </a:extLst>
          </p:cNvPr>
          <p:cNvSpPr txBox="1"/>
          <p:nvPr/>
        </p:nvSpPr>
        <p:spPr>
          <a:xfrm>
            <a:off x="17602200" y="9791700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6992764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F59511-74C9-3E81-FEA1-387AFF25B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8">
            <a:extLst>
              <a:ext uri="{FF2B5EF4-FFF2-40B4-BE49-F238E27FC236}">
                <a16:creationId xmlns:a16="http://schemas.microsoft.com/office/drawing/2014/main" id="{5FEEB944-F2BE-1525-9D5C-80CE1BBF4B2F}"/>
              </a:ext>
            </a:extLst>
          </p:cNvPr>
          <p:cNvSpPr txBox="1"/>
          <p:nvPr/>
        </p:nvSpPr>
        <p:spPr>
          <a:xfrm>
            <a:off x="6656413" y="266700"/>
            <a:ext cx="4975174" cy="587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75"/>
              </a:lnSpc>
            </a:pPr>
            <a:r>
              <a:rPr lang="en-US" sz="3875" dirty="0">
                <a:solidFill>
                  <a:srgbClr val="091C5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Use-case </a:t>
            </a:r>
            <a:r>
              <a:rPr lang="ru-RU" sz="3875" dirty="0">
                <a:solidFill>
                  <a:srgbClr val="091C5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диаграмма</a:t>
            </a:r>
            <a:endParaRPr lang="en-US" sz="3875" dirty="0">
              <a:solidFill>
                <a:srgbClr val="091C5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9128E4A-A3F9-1D1B-946C-75B53FEBB01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8068" y="984712"/>
            <a:ext cx="12271864" cy="930228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ADD3ED6-D5F3-0F9B-9BEA-350C2485C27D}"/>
              </a:ext>
            </a:extLst>
          </p:cNvPr>
          <p:cNvSpPr txBox="1"/>
          <p:nvPr/>
        </p:nvSpPr>
        <p:spPr>
          <a:xfrm>
            <a:off x="17602200" y="9791700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6394813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EEEF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-13952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-13952" y="0"/>
            <a:ext cx="18288000" cy="7181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62"/>
              </a:lnSpc>
            </a:pPr>
            <a:r>
              <a:rPr lang="en-US" sz="4800" dirty="0" err="1">
                <a:solidFill>
                  <a:srgbClr val="091C5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Основн</a:t>
            </a:r>
            <a:r>
              <a:rPr lang="ru-RU" sz="4800" dirty="0">
                <a:solidFill>
                  <a:srgbClr val="091C5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ой</a:t>
            </a:r>
            <a:r>
              <a:rPr lang="en-US" sz="4800" dirty="0">
                <a:solidFill>
                  <a:srgbClr val="091C5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4800" dirty="0" err="1">
                <a:solidFill>
                  <a:srgbClr val="091C5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алгоритм</a:t>
            </a:r>
            <a:endParaRPr lang="en-US" sz="4800" dirty="0">
              <a:solidFill>
                <a:srgbClr val="091C5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7D27269-AE99-B075-C4FA-D61DE1CFADAF}"/>
              </a:ext>
            </a:extLst>
          </p:cNvPr>
          <p:cNvSpPr txBox="1"/>
          <p:nvPr/>
        </p:nvSpPr>
        <p:spPr>
          <a:xfrm>
            <a:off x="17602200" y="9791700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12</a:t>
            </a:r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C0FBD1AE-5C33-79ED-47DA-F03509EB74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9866" y="1236841"/>
            <a:ext cx="11608267" cy="890111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EA7409-E261-4C05-BD06-5DBEA653D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C9C34D8-B2BB-F106-E74D-3060B16D2410}"/>
              </a:ext>
            </a:extLst>
          </p:cNvPr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7BBC7BEC-76BF-A631-EF97-E9B4C4FF6C42}"/>
                </a:ext>
              </a:extLst>
            </p:cNvPr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EEEFF"/>
            </a:solidFill>
          </p:spPr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69794C20-79FA-107C-BA2D-017AB7D6460F}"/>
              </a:ext>
            </a:extLst>
          </p:cNvPr>
          <p:cNvGrpSpPr/>
          <p:nvPr/>
        </p:nvGrpSpPr>
        <p:grpSpPr>
          <a:xfrm>
            <a:off x="26831" y="0"/>
            <a:ext cx="18288000" cy="10287000"/>
            <a:chOff x="0" y="0"/>
            <a:chExt cx="24384000" cy="1371600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8CA9EBA1-854B-C8AA-DD9C-BA1207A19956}"/>
                </a:ext>
              </a:extLst>
            </p:cNvPr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>
            <a:extLst>
              <a:ext uri="{FF2B5EF4-FFF2-40B4-BE49-F238E27FC236}">
                <a16:creationId xmlns:a16="http://schemas.microsoft.com/office/drawing/2014/main" id="{B2258A2C-AC7C-70BF-2C3E-A6B4F80E35D6}"/>
              </a:ext>
            </a:extLst>
          </p:cNvPr>
          <p:cNvSpPr txBox="1"/>
          <p:nvPr/>
        </p:nvSpPr>
        <p:spPr>
          <a:xfrm>
            <a:off x="762819" y="266700"/>
            <a:ext cx="16762362" cy="7181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62"/>
              </a:lnSpc>
            </a:pPr>
            <a:r>
              <a:rPr lang="ru-RU" sz="4800" dirty="0">
                <a:solidFill>
                  <a:srgbClr val="091C5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Интерфейс программы</a:t>
            </a:r>
            <a:endParaRPr lang="en-US" sz="4800" dirty="0">
              <a:solidFill>
                <a:srgbClr val="091C5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B1BDA27-1AAE-3690-9879-82F2DFF7CD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742" y="1090370"/>
            <a:ext cx="16168516" cy="909110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74BECE5-ACB8-9EBE-9FBC-C444ACF6AEFC}"/>
              </a:ext>
            </a:extLst>
          </p:cNvPr>
          <p:cNvSpPr txBox="1"/>
          <p:nvPr/>
        </p:nvSpPr>
        <p:spPr>
          <a:xfrm>
            <a:off x="17602200" y="9791700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4103037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7EA466-BFD6-53F2-7AD0-CDC4AA920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C311057C-3A58-EB62-F40C-09862F136B64}"/>
              </a:ext>
            </a:extLst>
          </p:cNvPr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EEB94892-BD8A-321F-04C1-4871CBEB2A69}"/>
                </a:ext>
              </a:extLst>
            </p:cNvPr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EEEFF"/>
            </a:solidFill>
          </p:spPr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B6579C8E-CE2F-DAF4-E487-7F32811F7348}"/>
              </a:ext>
            </a:extLst>
          </p:cNvPr>
          <p:cNvGrpSpPr/>
          <p:nvPr/>
        </p:nvGrpSpPr>
        <p:grpSpPr>
          <a:xfrm>
            <a:off x="26831" y="0"/>
            <a:ext cx="18288000" cy="10287000"/>
            <a:chOff x="0" y="0"/>
            <a:chExt cx="24384000" cy="1371600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B0B6DFE9-7AA0-EFDA-4BD3-051B09214A94}"/>
                </a:ext>
              </a:extLst>
            </p:cNvPr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>
            <a:extLst>
              <a:ext uri="{FF2B5EF4-FFF2-40B4-BE49-F238E27FC236}">
                <a16:creationId xmlns:a16="http://schemas.microsoft.com/office/drawing/2014/main" id="{2D6B806F-04C6-6428-679C-B9B99B19623B}"/>
              </a:ext>
            </a:extLst>
          </p:cNvPr>
          <p:cNvSpPr txBox="1"/>
          <p:nvPr/>
        </p:nvSpPr>
        <p:spPr>
          <a:xfrm>
            <a:off x="762819" y="266700"/>
            <a:ext cx="16762362" cy="7181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62"/>
              </a:lnSpc>
            </a:pPr>
            <a:r>
              <a:rPr lang="ru-RU" sz="4800" dirty="0">
                <a:solidFill>
                  <a:srgbClr val="091C5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Интерфейс программы</a:t>
            </a:r>
            <a:endParaRPr lang="en-US" sz="4800" dirty="0">
              <a:solidFill>
                <a:srgbClr val="091C5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732D2B9-A116-F687-D931-590DB1C107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418" y="1020079"/>
            <a:ext cx="16461164" cy="925565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FDDE7F4-FBAF-86BB-B2C9-E31217B35A72}"/>
              </a:ext>
            </a:extLst>
          </p:cNvPr>
          <p:cNvSpPr txBox="1"/>
          <p:nvPr/>
        </p:nvSpPr>
        <p:spPr>
          <a:xfrm>
            <a:off x="17602200" y="9791700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360033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3A261D-8D2D-0F92-8DB3-60BC7D53E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260048B-4AAD-7F7C-8A6A-E040F6683F53}"/>
              </a:ext>
            </a:extLst>
          </p:cNvPr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664AC2BC-34F2-62A5-65FA-F92E35F8D71E}"/>
                </a:ext>
              </a:extLst>
            </p:cNvPr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EEEFF"/>
            </a:solidFill>
          </p:spPr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3AC57135-FE98-421C-920E-4F448D7740AE}"/>
              </a:ext>
            </a:extLst>
          </p:cNvPr>
          <p:cNvGrpSpPr/>
          <p:nvPr/>
        </p:nvGrpSpPr>
        <p:grpSpPr>
          <a:xfrm>
            <a:off x="26831" y="0"/>
            <a:ext cx="18288000" cy="10287000"/>
            <a:chOff x="0" y="0"/>
            <a:chExt cx="24384000" cy="1371600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A0083BA8-ABD6-BF98-B6C9-FFD95ABDDB10}"/>
                </a:ext>
              </a:extLst>
            </p:cNvPr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>
            <a:extLst>
              <a:ext uri="{FF2B5EF4-FFF2-40B4-BE49-F238E27FC236}">
                <a16:creationId xmlns:a16="http://schemas.microsoft.com/office/drawing/2014/main" id="{DA4FF7DF-6652-267B-FCC1-7B4405B169D6}"/>
              </a:ext>
            </a:extLst>
          </p:cNvPr>
          <p:cNvSpPr txBox="1"/>
          <p:nvPr/>
        </p:nvSpPr>
        <p:spPr>
          <a:xfrm>
            <a:off x="762819" y="266700"/>
            <a:ext cx="16762362" cy="7181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62"/>
              </a:lnSpc>
            </a:pPr>
            <a:r>
              <a:rPr lang="ru-RU" sz="4800" dirty="0">
                <a:solidFill>
                  <a:srgbClr val="091C5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Интерфейс программы</a:t>
            </a:r>
            <a:endParaRPr lang="en-US" sz="4800" dirty="0">
              <a:solidFill>
                <a:srgbClr val="091C5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1C19787-5687-054C-04CA-C76BDD3680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984845"/>
            <a:ext cx="16131578" cy="907033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20F2C8B-9435-A882-1D3E-6EFC94F375F4}"/>
              </a:ext>
            </a:extLst>
          </p:cNvPr>
          <p:cNvSpPr txBox="1"/>
          <p:nvPr/>
        </p:nvSpPr>
        <p:spPr>
          <a:xfrm>
            <a:off x="17602200" y="9791700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38982652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71E977-5E56-9ECE-5FEA-A3BAD29DF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A484ED2E-3B70-2EA0-C501-0F9F4DC07B3A}"/>
              </a:ext>
            </a:extLst>
          </p:cNvPr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E68ADAD-3AD7-904C-1FEC-1E627A79B62F}"/>
                </a:ext>
              </a:extLst>
            </p:cNvPr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EEEFF"/>
            </a:solidFill>
          </p:spPr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BFECB00C-4A1F-E937-BF92-F00A5CC758F9}"/>
              </a:ext>
            </a:extLst>
          </p:cNvPr>
          <p:cNvGrpSpPr/>
          <p:nvPr/>
        </p:nvGrpSpPr>
        <p:grpSpPr>
          <a:xfrm>
            <a:off x="26831" y="0"/>
            <a:ext cx="18288000" cy="10287000"/>
            <a:chOff x="0" y="0"/>
            <a:chExt cx="24384000" cy="1371600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C7BB177B-EF3C-8C8D-9B46-799A35AC35E3}"/>
                </a:ext>
              </a:extLst>
            </p:cNvPr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>
            <a:extLst>
              <a:ext uri="{FF2B5EF4-FFF2-40B4-BE49-F238E27FC236}">
                <a16:creationId xmlns:a16="http://schemas.microsoft.com/office/drawing/2014/main" id="{71E984C7-21D7-1FDA-1D7B-B32718B70C6B}"/>
              </a:ext>
            </a:extLst>
          </p:cNvPr>
          <p:cNvSpPr txBox="1"/>
          <p:nvPr/>
        </p:nvSpPr>
        <p:spPr>
          <a:xfrm>
            <a:off x="762819" y="1066978"/>
            <a:ext cx="16762362" cy="7181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62"/>
              </a:lnSpc>
            </a:pPr>
            <a:r>
              <a:rPr lang="ru-RU" sz="4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Функциональные возможности</a:t>
            </a:r>
            <a:endParaRPr lang="en-US" sz="4800" dirty="0">
              <a:solidFill>
                <a:schemeClr val="tx2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CD1EDB2-1746-5740-5315-3647C13781CC}"/>
              </a:ext>
            </a:extLst>
          </p:cNvPr>
          <p:cNvSpPr txBox="1"/>
          <p:nvPr/>
        </p:nvSpPr>
        <p:spPr>
          <a:xfrm>
            <a:off x="762820" y="2878931"/>
            <a:ext cx="4418782" cy="19697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Загрузка изображений по классам, извлечение признаков, сохранение в БД.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7FCBE456-406E-CDBA-A8D5-33722B635393}"/>
              </a:ext>
            </a:extLst>
          </p:cNvPr>
          <p:cNvSpPr txBox="1"/>
          <p:nvPr/>
        </p:nvSpPr>
        <p:spPr>
          <a:xfrm>
            <a:off x="9117874" y="5751969"/>
            <a:ext cx="5791199" cy="14773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Обучение: построение KD-</a:t>
            </a:r>
            <a:r>
              <a:rPr lang="ru-RU" sz="32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Tree</a:t>
            </a:r>
            <a:r>
              <a:rPr lang="ru-RU" sz="3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сохранение модели, выбор k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CF73E2F8-87BF-F160-B0F3-2D155FE37B0D}"/>
              </a:ext>
            </a:extLst>
          </p:cNvPr>
          <p:cNvSpPr txBox="1"/>
          <p:nvPr/>
        </p:nvSpPr>
        <p:spPr>
          <a:xfrm>
            <a:off x="12150542" y="2756366"/>
            <a:ext cx="5517061" cy="22159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ru-RU" sz="3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Классификация: по одному изображению или пакетом; вывод результата и времени.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7CB416-CB58-A363-E12A-6259E80EBF85}"/>
              </a:ext>
            </a:extLst>
          </p:cNvPr>
          <p:cNvSpPr txBox="1"/>
          <p:nvPr/>
        </p:nvSpPr>
        <p:spPr>
          <a:xfrm>
            <a:off x="2819400" y="5751969"/>
            <a:ext cx="559801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Просмотр экспериментов: точность, время KD-</a:t>
            </a:r>
            <a:r>
              <a:rPr lang="ru-RU" sz="32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Tree</a:t>
            </a:r>
            <a:r>
              <a:rPr lang="ru-RU" sz="3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vs</a:t>
            </a:r>
            <a:r>
              <a:rPr lang="ru-RU" sz="3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линейного поиска.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FEB8D3-F695-7B39-6802-748B87F15DF5}"/>
              </a:ext>
            </a:extLst>
          </p:cNvPr>
          <p:cNvSpPr txBox="1"/>
          <p:nvPr/>
        </p:nvSpPr>
        <p:spPr>
          <a:xfrm>
            <a:off x="17602200" y="9791700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40437286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8271BD-5285-91E2-FE5D-145D5D5BA4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6A2A9DB-E92D-363D-70DF-74EFF3D82883}"/>
              </a:ext>
            </a:extLst>
          </p:cNvPr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35756B7C-8D6B-D7A9-6D18-303DCEFFD585}"/>
                </a:ext>
              </a:extLst>
            </p:cNvPr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EEEFF"/>
            </a:solidFill>
          </p:spPr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68DFCAB2-2A2C-959B-24AA-0BDA29BCCDC0}"/>
              </a:ext>
            </a:extLst>
          </p:cNvPr>
          <p:cNvGrpSpPr/>
          <p:nvPr/>
        </p:nvGrpSpPr>
        <p:grpSpPr>
          <a:xfrm>
            <a:off x="26831" y="0"/>
            <a:ext cx="18288000" cy="10287000"/>
            <a:chOff x="0" y="0"/>
            <a:chExt cx="24384000" cy="1371600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DE3D7A39-657B-6710-A1C8-176108CB7419}"/>
                </a:ext>
              </a:extLst>
            </p:cNvPr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>
            <a:extLst>
              <a:ext uri="{FF2B5EF4-FFF2-40B4-BE49-F238E27FC236}">
                <a16:creationId xmlns:a16="http://schemas.microsoft.com/office/drawing/2014/main" id="{6017079D-BB83-4A10-0DD2-2B3E786AA8BC}"/>
              </a:ext>
            </a:extLst>
          </p:cNvPr>
          <p:cNvSpPr txBox="1"/>
          <p:nvPr/>
        </p:nvSpPr>
        <p:spPr>
          <a:xfrm>
            <a:off x="762819" y="1066978"/>
            <a:ext cx="16762362" cy="7181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62"/>
              </a:lnSpc>
            </a:pPr>
            <a:r>
              <a:rPr lang="ru-RU" sz="4800" dirty="0">
                <a:solidFill>
                  <a:schemeClr val="tx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Практическая значимость</a:t>
            </a:r>
            <a:endParaRPr lang="en-US" sz="4800" dirty="0">
              <a:solidFill>
                <a:schemeClr val="tx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C582F4B2-FD96-5DFA-9854-412595979AE0}"/>
              </a:ext>
            </a:extLst>
          </p:cNvPr>
          <p:cNvSpPr txBox="1"/>
          <p:nvPr/>
        </p:nvSpPr>
        <p:spPr>
          <a:xfrm>
            <a:off x="711969" y="2878931"/>
            <a:ext cx="5180780" cy="19697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ru-RU" sz="3200" dirty="0">
                <a:solidFill>
                  <a:schemeClr val="tx2"/>
                </a:solidFill>
              </a:rPr>
              <a:t>Учебная ценность: живая демонстрация </a:t>
            </a:r>
            <a:r>
              <a:rPr lang="ru-RU" sz="3200" dirty="0" err="1">
                <a:solidFill>
                  <a:schemeClr val="tx2"/>
                </a:solidFill>
              </a:rPr>
              <a:t>kNN</a:t>
            </a:r>
            <a:r>
              <a:rPr lang="ru-RU" sz="3200" dirty="0">
                <a:solidFill>
                  <a:schemeClr val="tx2"/>
                </a:solidFill>
              </a:rPr>
              <a:t>, KD-</a:t>
            </a:r>
            <a:r>
              <a:rPr lang="ru-RU" sz="3200" dirty="0" err="1">
                <a:solidFill>
                  <a:schemeClr val="tx2"/>
                </a:solidFill>
              </a:rPr>
              <a:t>Tree</a:t>
            </a:r>
            <a:r>
              <a:rPr lang="ru-RU" sz="3200" dirty="0">
                <a:solidFill>
                  <a:schemeClr val="tx2"/>
                </a:solidFill>
              </a:rPr>
              <a:t>, оценки сложности на реальном коде.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38E80D92-061A-6E2F-E94E-4F51CF4FA622}"/>
              </a:ext>
            </a:extLst>
          </p:cNvPr>
          <p:cNvSpPr txBox="1"/>
          <p:nvPr/>
        </p:nvSpPr>
        <p:spPr>
          <a:xfrm>
            <a:off x="11758666" y="2878931"/>
            <a:ext cx="5791199" cy="19697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ru-RU" sz="3200" dirty="0">
                <a:solidFill>
                  <a:schemeClr val="tx2"/>
                </a:solidFill>
              </a:rPr>
              <a:t>Базовый прототип для более сложных систем: можно заменить признаки, метрику, добавить предобработку.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EBCBFD-C2B0-E039-6DF8-10991F5D57D6}"/>
              </a:ext>
            </a:extLst>
          </p:cNvPr>
          <p:cNvSpPr txBox="1"/>
          <p:nvPr/>
        </p:nvSpPr>
        <p:spPr>
          <a:xfrm>
            <a:off x="17602200" y="9791700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22453475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A6F6D8-EA5D-E0E1-23BE-FA71F8C6F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985E0D57-2279-7BB8-DEA4-6DFED668C82C}"/>
              </a:ext>
            </a:extLst>
          </p:cNvPr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DAA5C7C2-0E19-404E-EC99-AEB21EE0D78F}"/>
                </a:ext>
              </a:extLst>
            </p:cNvPr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EEEFF"/>
            </a:solidFill>
          </p:spPr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02572B50-2F81-E6A9-2313-9E3184E9471F}"/>
              </a:ext>
            </a:extLst>
          </p:cNvPr>
          <p:cNvGrpSpPr/>
          <p:nvPr/>
        </p:nvGrpSpPr>
        <p:grpSpPr>
          <a:xfrm>
            <a:off x="-37563" y="-28750"/>
            <a:ext cx="18288000" cy="10287000"/>
            <a:chOff x="-34344" y="0"/>
            <a:chExt cx="24384000" cy="1371600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094D5925-671E-E943-3390-88B1F5277512}"/>
                </a:ext>
              </a:extLst>
            </p:cNvPr>
            <p:cNvSpPr/>
            <p:nvPr/>
          </p:nvSpPr>
          <p:spPr>
            <a:xfrm>
              <a:off x="-34344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>
            <a:extLst>
              <a:ext uri="{FF2B5EF4-FFF2-40B4-BE49-F238E27FC236}">
                <a16:creationId xmlns:a16="http://schemas.microsoft.com/office/drawing/2014/main" id="{16435023-7C0F-D5FE-40DB-96A4A1D93212}"/>
              </a:ext>
            </a:extLst>
          </p:cNvPr>
          <p:cNvSpPr txBox="1"/>
          <p:nvPr/>
        </p:nvSpPr>
        <p:spPr>
          <a:xfrm>
            <a:off x="995458" y="386180"/>
            <a:ext cx="16149541" cy="7181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62"/>
              </a:lnSpc>
            </a:pPr>
            <a:r>
              <a:rPr lang="ru-RU" sz="5400" dirty="0">
                <a:solidFill>
                  <a:srgbClr val="091C5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Выводы</a:t>
            </a:r>
            <a:endParaRPr lang="en-US" sz="4800" dirty="0">
              <a:solidFill>
                <a:srgbClr val="091C5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04312AB-A7FC-125B-7717-0642CB4C71C1}"/>
              </a:ext>
            </a:extLst>
          </p:cNvPr>
          <p:cNvSpPr txBox="1"/>
          <p:nvPr/>
        </p:nvSpPr>
        <p:spPr>
          <a:xfrm>
            <a:off x="685800" y="2579631"/>
            <a:ext cx="7433258" cy="22159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Реализована система распознавания цифр и фигур на </a:t>
            </a:r>
            <a:r>
              <a:rPr lang="ru-RU" sz="36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kNN</a:t>
            </a:r>
            <a:r>
              <a:rPr lang="ru-RU" sz="3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без ML-библиотек; KD-</a:t>
            </a:r>
            <a:r>
              <a:rPr lang="ru-RU" sz="36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Tree</a:t>
            </a:r>
            <a:r>
              <a:rPr lang="ru-RU" sz="3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ru-RU" sz="36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kNN</a:t>
            </a:r>
            <a:r>
              <a:rPr lang="ru-RU" sz="3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написаны вручную.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197FB184-93B5-3137-29A5-DA0C6D21C79A}"/>
              </a:ext>
            </a:extLst>
          </p:cNvPr>
          <p:cNvSpPr txBox="1">
            <a:spLocks/>
          </p:cNvSpPr>
          <p:nvPr/>
        </p:nvSpPr>
        <p:spPr>
          <a:xfrm>
            <a:off x="9940344" y="2652536"/>
            <a:ext cx="8229600" cy="2462214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Проведены эксперименты: замеры времени построения дерева и поиска, сравнение с линейным поиском.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7087095-B43A-FE23-7E4D-995627B03D3E}"/>
              </a:ext>
            </a:extLst>
          </p:cNvPr>
          <p:cNvSpPr txBox="1"/>
          <p:nvPr/>
        </p:nvSpPr>
        <p:spPr>
          <a:xfrm>
            <a:off x="5524500" y="5913288"/>
            <a:ext cx="70866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ru-RU" sz="3600" dirty="0">
                <a:solidFill>
                  <a:schemeClr val="tx2"/>
                </a:solidFill>
              </a:rPr>
              <a:t>Код структурирован по слоям, покрыт тестами, готов к демонстрации и доработке.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FAE24D-778E-F15E-CDBA-3DD30D056482}"/>
              </a:ext>
            </a:extLst>
          </p:cNvPr>
          <p:cNvSpPr txBox="1"/>
          <p:nvPr/>
        </p:nvSpPr>
        <p:spPr>
          <a:xfrm>
            <a:off x="17602200" y="9791700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36695360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0B1B78-2255-1F59-0790-13B51CB2A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AD5625E-65DA-2C08-DC4D-439AF53A01AC}"/>
              </a:ext>
            </a:extLst>
          </p:cNvPr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EE774FA1-3194-75D8-9596-07AA418A41EE}"/>
                </a:ext>
              </a:extLst>
            </p:cNvPr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EEEFF"/>
            </a:solidFill>
          </p:spPr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A475F7BC-CA12-1B8A-F3F4-D6F167804686}"/>
              </a:ext>
            </a:extLst>
          </p:cNvPr>
          <p:cNvGrpSpPr/>
          <p:nvPr/>
        </p:nvGrpSpPr>
        <p:grpSpPr>
          <a:xfrm>
            <a:off x="22538" y="0"/>
            <a:ext cx="18288000" cy="10287000"/>
            <a:chOff x="0" y="0"/>
            <a:chExt cx="24384000" cy="1371600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0E51389A-B99A-927B-3650-3A64426B0AFE}"/>
                </a:ext>
              </a:extLst>
            </p:cNvPr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ru-RU" dirty="0"/>
            </a:p>
          </p:txBody>
        </p:sp>
      </p:grpSp>
      <p:sp>
        <p:nvSpPr>
          <p:cNvPr id="6" name="TextBox 6">
            <a:extLst>
              <a:ext uri="{FF2B5EF4-FFF2-40B4-BE49-F238E27FC236}">
                <a16:creationId xmlns:a16="http://schemas.microsoft.com/office/drawing/2014/main" id="{BD56CAC0-7605-E506-903C-B3BE22B25F9C}"/>
              </a:ext>
            </a:extLst>
          </p:cNvPr>
          <p:cNvSpPr txBox="1"/>
          <p:nvPr/>
        </p:nvSpPr>
        <p:spPr>
          <a:xfrm>
            <a:off x="991419" y="1161930"/>
            <a:ext cx="16305162" cy="8271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62"/>
              </a:lnSpc>
            </a:pPr>
            <a:r>
              <a:rPr lang="ru-RU" sz="9600" dirty="0">
                <a:solidFill>
                  <a:srgbClr val="091C5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Спасибо за внимание</a:t>
            </a:r>
            <a:endParaRPr lang="en-US" sz="9600" dirty="0">
              <a:solidFill>
                <a:srgbClr val="091C5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D156544D-9956-F61E-A843-2BB09E1463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0250" y="2444155"/>
            <a:ext cx="6667500" cy="666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90896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522</TotalTime>
  <Words>615</Words>
  <Application>Microsoft Office PowerPoint</Application>
  <PresentationFormat>Произвольный</PresentationFormat>
  <Paragraphs>138</Paragraphs>
  <Slides>19</Slides>
  <Notes>14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3" baseType="lpstr">
      <vt:lpstr>Arial</vt:lpstr>
      <vt:lpstr>Times New Roman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Raspoznavanie-izobrazhenij-s-pomoshyu-kNN-i-KD-Tree.pptx</dc:title>
  <dc:creator>Dmitry</dc:creator>
  <cp:lastModifiedBy>Fernando Fernandez</cp:lastModifiedBy>
  <cp:revision>13</cp:revision>
  <dcterms:created xsi:type="dcterms:W3CDTF">2006-08-16T00:00:00Z</dcterms:created>
  <dcterms:modified xsi:type="dcterms:W3CDTF">2026-05-05T09:53:36Z</dcterms:modified>
  <dc:identifier>DAHDlNsHA-4</dc:identifier>
</cp:coreProperties>
</file>