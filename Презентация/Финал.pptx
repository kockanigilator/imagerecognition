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5" r:id="rId14"/>
    <p:sldId id="280" r:id="rId15"/>
    <p:sldId id="278" r:id="rId16"/>
    <p:sldId id="279" r:id="rId17"/>
    <p:sldId id="275" r:id="rId18"/>
    <p:sldId id="277" r:id="rId19"/>
    <p:sldId id="276" r:id="rId20"/>
  </p:sldIdLst>
  <p:sldSz cx="18288000" cy="10287000"/>
  <p:notesSz cx="6858000" cy="9144000"/>
  <p:embeddedFontLst>
    <p:embeddedFont>
      <p:font typeface="Times New Roman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1F70-B751-75D8-CDCE-ADB89C55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B93329-AE0E-7FF1-61A5-50EDEE9014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6C924-1507-5670-7F1B-1DBB9BA6B9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0F30C4-ECB7-7B3F-9D2D-22AE5BA30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1291DD-D015-48FA-8BC9-D61695097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81E1-1182-1CB8-474D-C703481659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6D60D-DCCF-8E61-CA1A-CE7CB5CA9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9510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B43F-1E89-977E-4B96-8F835E4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71D306-AEEC-9016-E9CA-14E6838DE4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2FE7D-91A1-FFFB-603A-FCE2DA61AA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86B98E-7C71-4521-566B-00A966073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25EC29-F3E9-E01C-11C8-04817D6E4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2499F-3497-8657-3445-59F2439225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84F18-DE09-A586-3FB4-0B0E68802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7241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8F55-24A6-7AFA-3FE1-91EEE0D8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63FF26-6C7B-70E9-6590-41BE0CF7FD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E2BCD-BE69-6D2A-6A0E-5118B24AE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2A8EA4B-9774-8907-ABFF-B656B9775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4461E7A-91C5-309D-762E-2986979B1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65989-EC9F-286A-7043-A5A34A2AB6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4019-FB3A-FD97-1515-9CD98FFED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385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528504"/>
            <a:ext cx="15590520" cy="191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бюджетное образовательное учреждение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«Тверской государственный технический университет»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(ТвГТУ)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Программного обеспечения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5512" y="4156148"/>
            <a:ext cx="16196986" cy="166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 </a:t>
            </a:r>
          </a:p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«Разработка программной системы распознавания изображений на основе алгоритма k-ближайших соседей с использованием k-мерного дерева»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26582" y="7536218"/>
            <a:ext cx="5393912" cy="189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Лёвкин Д.А.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Б.ПИН.ИИ.24.16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Проверил: Мальков А.А.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847259"/>
            <a:ext cx="7241381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задачи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666" y="343582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Базовая задача компьютерного зрения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666" y="4425086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Распознавание изображений лежит в основе OCR, детекции объектов, классификации и анализа визуальной информации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0633" y="343582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реальных систем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10633" y="4425086"/>
            <a:ext cx="4678413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доступа, сканеры документов, медицинская диагностика — все требуют быстрых и объяснимых методов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39590" y="343582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Понимание изнутри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39590" y="3982174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 ML-решения (TensorFlow, scikit-learn) работают как «чёрный ящик» — важно понимать алгоритмы детально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846140" y="750760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Целевая аудитория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2342617"/>
            <a:ext cx="7569727" cy="2201618"/>
            <a:chOff x="0" y="0"/>
            <a:chExt cx="10092969" cy="2935491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042144" cy="2884678"/>
            </a:xfrm>
            <a:custGeom>
              <a:avLst/>
              <a:gdLst/>
              <a:ahLst/>
              <a:cxnLst/>
              <a:rect l="l" t="t" r="r" b="b"/>
              <a:pathLst>
                <a:path w="10042144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795256" y="0"/>
                  </a:lnTo>
                  <a:cubicBezTo>
                    <a:pt x="9931654" y="0"/>
                    <a:pt x="10042144" y="109220"/>
                    <a:pt x="10042144" y="243840"/>
                  </a:cubicBezTo>
                  <a:lnTo>
                    <a:pt x="10042144" y="2640838"/>
                  </a:lnTo>
                  <a:cubicBezTo>
                    <a:pt x="10042144" y="2775458"/>
                    <a:pt x="9931654" y="2884678"/>
                    <a:pt x="9795256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092944" cy="2935478"/>
            </a:xfrm>
            <a:custGeom>
              <a:avLst/>
              <a:gdLst/>
              <a:ahLst/>
              <a:cxnLst/>
              <a:rect l="l" t="t" r="r" b="b"/>
              <a:pathLst>
                <a:path w="10092944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820656" y="0"/>
                  </a:lnTo>
                  <a:lnTo>
                    <a:pt x="9820656" y="25400"/>
                  </a:lnTo>
                  <a:lnTo>
                    <a:pt x="9820656" y="0"/>
                  </a:lnTo>
                  <a:cubicBezTo>
                    <a:pt x="9970770" y="0"/>
                    <a:pt x="10092944" y="120269"/>
                    <a:pt x="10092944" y="269240"/>
                  </a:cubicBezTo>
                  <a:lnTo>
                    <a:pt x="10067544" y="269240"/>
                  </a:lnTo>
                  <a:lnTo>
                    <a:pt x="10092944" y="269240"/>
                  </a:lnTo>
                  <a:lnTo>
                    <a:pt x="10092944" y="2666238"/>
                  </a:lnTo>
                  <a:lnTo>
                    <a:pt x="10067544" y="2666238"/>
                  </a:lnTo>
                  <a:lnTo>
                    <a:pt x="10092944" y="2666238"/>
                  </a:lnTo>
                  <a:cubicBezTo>
                    <a:pt x="10092944" y="2815209"/>
                    <a:pt x="9970770" y="2935478"/>
                    <a:pt x="9820656" y="2935478"/>
                  </a:cubicBezTo>
                  <a:lnTo>
                    <a:pt x="9820656" y="2910078"/>
                  </a:lnTo>
                  <a:lnTo>
                    <a:pt x="9820656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820656" y="2884678"/>
                  </a:lnTo>
                  <a:cubicBezTo>
                    <a:pt x="9943338" y="2884678"/>
                    <a:pt x="10042144" y="2786634"/>
                    <a:pt x="10042144" y="2666238"/>
                  </a:cubicBezTo>
                  <a:lnTo>
                    <a:pt x="10042144" y="269240"/>
                  </a:lnTo>
                  <a:cubicBezTo>
                    <a:pt x="10042144" y="148844"/>
                    <a:pt x="9943338" y="50800"/>
                    <a:pt x="9820656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28159" y="2553738"/>
            <a:ext cx="465683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Студенты и преподаватели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159" y="3100092"/>
            <a:ext cx="6730917" cy="130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Курсы «Алгоритмы и структуры данных» — наглядная демонстрация работы kNN и KD-Tree на практике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97100" y="2342617"/>
            <a:ext cx="7462380" cy="2201618"/>
            <a:chOff x="0" y="0"/>
            <a:chExt cx="9949840" cy="293549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9899015" cy="2884678"/>
            </a:xfrm>
            <a:custGeom>
              <a:avLst/>
              <a:gdLst/>
              <a:ahLst/>
              <a:cxnLst/>
              <a:rect l="l" t="t" r="r" b="b"/>
              <a:pathLst>
                <a:path w="9899015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652127" y="0"/>
                  </a:lnTo>
                  <a:cubicBezTo>
                    <a:pt x="9788525" y="0"/>
                    <a:pt x="9899015" y="109220"/>
                    <a:pt x="9899015" y="243840"/>
                  </a:cubicBezTo>
                  <a:lnTo>
                    <a:pt x="9899015" y="2640838"/>
                  </a:lnTo>
                  <a:cubicBezTo>
                    <a:pt x="9899015" y="2775458"/>
                    <a:pt x="9788525" y="2884678"/>
                    <a:pt x="9652127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9949815" cy="2935478"/>
            </a:xfrm>
            <a:custGeom>
              <a:avLst/>
              <a:gdLst/>
              <a:ahLst/>
              <a:cxnLst/>
              <a:rect l="l" t="t" r="r" b="b"/>
              <a:pathLst>
                <a:path w="9949815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677527" y="0"/>
                  </a:lnTo>
                  <a:lnTo>
                    <a:pt x="9677527" y="25400"/>
                  </a:lnTo>
                  <a:lnTo>
                    <a:pt x="9677527" y="0"/>
                  </a:lnTo>
                  <a:cubicBezTo>
                    <a:pt x="9827641" y="0"/>
                    <a:pt x="9949815" y="120269"/>
                    <a:pt x="9949815" y="269240"/>
                  </a:cubicBezTo>
                  <a:lnTo>
                    <a:pt x="9924415" y="269240"/>
                  </a:lnTo>
                  <a:lnTo>
                    <a:pt x="9949815" y="269240"/>
                  </a:lnTo>
                  <a:lnTo>
                    <a:pt x="9949815" y="2666238"/>
                  </a:lnTo>
                  <a:lnTo>
                    <a:pt x="9924415" y="2666238"/>
                  </a:lnTo>
                  <a:lnTo>
                    <a:pt x="9949815" y="2666238"/>
                  </a:lnTo>
                  <a:cubicBezTo>
                    <a:pt x="9949815" y="2815209"/>
                    <a:pt x="9827641" y="2935478"/>
                    <a:pt x="9677527" y="2935478"/>
                  </a:cubicBezTo>
                  <a:lnTo>
                    <a:pt x="9677527" y="2910078"/>
                  </a:lnTo>
                  <a:lnTo>
                    <a:pt x="9677527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677527" y="2884678"/>
                  </a:lnTo>
                  <a:cubicBezTo>
                    <a:pt x="9800082" y="2884678"/>
                    <a:pt x="9899015" y="2786634"/>
                    <a:pt x="9899015" y="2666238"/>
                  </a:cubicBezTo>
                  <a:lnTo>
                    <a:pt x="9899015" y="269240"/>
                  </a:lnTo>
                  <a:cubicBezTo>
                    <a:pt x="9899015" y="148844"/>
                    <a:pt x="9800209" y="50800"/>
                    <a:pt x="9677527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320832" y="2650541"/>
            <a:ext cx="568116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Разработчики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прототипов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20833" y="3196885"/>
            <a:ext cx="6743700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Тем, кому не нужна тяжёлая инфраструктура нейронных сетей для начальной реализации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389893" y="5054327"/>
            <a:ext cx="7508205" cy="2795483"/>
            <a:chOff x="0" y="0"/>
            <a:chExt cx="10010940" cy="3727310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9960102" cy="3676523"/>
            </a:xfrm>
            <a:custGeom>
              <a:avLst/>
              <a:gdLst/>
              <a:ahLst/>
              <a:cxnLst/>
              <a:rect l="l" t="t" r="r" b="b"/>
              <a:pathLst>
                <a:path w="9960102" h="3676523">
                  <a:moveTo>
                    <a:pt x="0" y="310769"/>
                  </a:moveTo>
                  <a:cubicBezTo>
                    <a:pt x="0" y="139192"/>
                    <a:pt x="140335" y="0"/>
                    <a:pt x="313436" y="0"/>
                  </a:cubicBezTo>
                  <a:lnTo>
                    <a:pt x="9646666" y="0"/>
                  </a:lnTo>
                  <a:cubicBezTo>
                    <a:pt x="9819767" y="0"/>
                    <a:pt x="9960102" y="139192"/>
                    <a:pt x="9960102" y="310769"/>
                  </a:cubicBezTo>
                  <a:lnTo>
                    <a:pt x="9960102" y="3365754"/>
                  </a:lnTo>
                  <a:cubicBezTo>
                    <a:pt x="9960102" y="3537331"/>
                    <a:pt x="9819767" y="3676523"/>
                    <a:pt x="9646666" y="3676523"/>
                  </a:cubicBezTo>
                  <a:lnTo>
                    <a:pt x="313436" y="3676523"/>
                  </a:lnTo>
                  <a:cubicBezTo>
                    <a:pt x="140335" y="3676523"/>
                    <a:pt x="0" y="3537331"/>
                    <a:pt x="0" y="33657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010902" cy="3727323"/>
            </a:xfrm>
            <a:custGeom>
              <a:avLst/>
              <a:gdLst/>
              <a:ahLst/>
              <a:cxnLst/>
              <a:rect l="l" t="t" r="r" b="b"/>
              <a:pathLst>
                <a:path w="10010902" h="3727323">
                  <a:moveTo>
                    <a:pt x="0" y="336169"/>
                  </a:moveTo>
                  <a:cubicBezTo>
                    <a:pt x="0" y="150368"/>
                    <a:pt x="151892" y="0"/>
                    <a:pt x="338836" y="0"/>
                  </a:cubicBezTo>
                  <a:lnTo>
                    <a:pt x="9672066" y="0"/>
                  </a:lnTo>
                  <a:lnTo>
                    <a:pt x="9672066" y="25400"/>
                  </a:lnTo>
                  <a:lnTo>
                    <a:pt x="9672066" y="0"/>
                  </a:lnTo>
                  <a:cubicBezTo>
                    <a:pt x="9859011" y="0"/>
                    <a:pt x="10010902" y="150368"/>
                    <a:pt x="10010902" y="336169"/>
                  </a:cubicBezTo>
                  <a:lnTo>
                    <a:pt x="9985502" y="336169"/>
                  </a:lnTo>
                  <a:lnTo>
                    <a:pt x="10010902" y="336169"/>
                  </a:lnTo>
                  <a:lnTo>
                    <a:pt x="10010902" y="3391154"/>
                  </a:lnTo>
                  <a:lnTo>
                    <a:pt x="9985502" y="3391154"/>
                  </a:lnTo>
                  <a:lnTo>
                    <a:pt x="10010902" y="3391154"/>
                  </a:lnTo>
                  <a:cubicBezTo>
                    <a:pt x="10010902" y="3577082"/>
                    <a:pt x="9859011" y="3727323"/>
                    <a:pt x="9672066" y="3727323"/>
                  </a:cubicBezTo>
                  <a:lnTo>
                    <a:pt x="9672066" y="3701923"/>
                  </a:lnTo>
                  <a:lnTo>
                    <a:pt x="9672066" y="3727323"/>
                  </a:lnTo>
                  <a:lnTo>
                    <a:pt x="338836" y="3727323"/>
                  </a:lnTo>
                  <a:lnTo>
                    <a:pt x="338836" y="3701923"/>
                  </a:lnTo>
                  <a:lnTo>
                    <a:pt x="338836" y="3727323"/>
                  </a:lnTo>
                  <a:cubicBezTo>
                    <a:pt x="151892" y="3727323"/>
                    <a:pt x="0" y="3576955"/>
                    <a:pt x="0" y="3391154"/>
                  </a:cubicBezTo>
                  <a:lnTo>
                    <a:pt x="0" y="336169"/>
                  </a:lnTo>
                  <a:lnTo>
                    <a:pt x="25400" y="336169"/>
                  </a:lnTo>
                  <a:lnTo>
                    <a:pt x="0" y="336169"/>
                  </a:lnTo>
                  <a:moveTo>
                    <a:pt x="50800" y="336169"/>
                  </a:moveTo>
                  <a:lnTo>
                    <a:pt x="50800" y="3391154"/>
                  </a:lnTo>
                  <a:lnTo>
                    <a:pt x="25400" y="3391154"/>
                  </a:lnTo>
                  <a:lnTo>
                    <a:pt x="50800" y="3391154"/>
                  </a:lnTo>
                  <a:cubicBezTo>
                    <a:pt x="50800" y="3548507"/>
                    <a:pt x="179578" y="3676523"/>
                    <a:pt x="338836" y="3676523"/>
                  </a:cubicBezTo>
                  <a:lnTo>
                    <a:pt x="9672066" y="3676523"/>
                  </a:lnTo>
                  <a:cubicBezTo>
                    <a:pt x="9831324" y="3676523"/>
                    <a:pt x="9960102" y="3548507"/>
                    <a:pt x="9960102" y="3391154"/>
                  </a:cubicBezTo>
                  <a:lnTo>
                    <a:pt x="9960102" y="336169"/>
                  </a:lnTo>
                  <a:cubicBezTo>
                    <a:pt x="9960102" y="178816"/>
                    <a:pt x="9831324" y="50800"/>
                    <a:pt x="9672066" y="50800"/>
                  </a:cubicBezTo>
                  <a:lnTo>
                    <a:pt x="338836" y="50800"/>
                  </a:lnTo>
                  <a:lnTo>
                    <a:pt x="338836" y="25400"/>
                  </a:lnTo>
                  <a:lnTo>
                    <a:pt x="338836" y="50800"/>
                  </a:lnTo>
                  <a:cubicBezTo>
                    <a:pt x="179578" y="50800"/>
                    <a:pt x="50800" y="178816"/>
                    <a:pt x="50800" y="33616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954762" y="5355565"/>
            <a:ext cx="478943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Исследователи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54763" y="5901909"/>
            <a:ext cx="6871002" cy="126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Желающие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эффективность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KD-Tree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линейного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перебора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ближайших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соседей</a:t>
            </a:r>
            <a:endParaRPr lang="en-US" sz="2187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2445" y="742207"/>
            <a:ext cx="6892080" cy="838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проекта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445" y="2103682"/>
            <a:ext cx="3751212" cy="497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проекта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445" y="2745581"/>
            <a:ext cx="7866459" cy="12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полностью рабочую систему распознавания цифр и простых геометрических фигур без использования готовых ML-библиотек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445" y="4341047"/>
            <a:ext cx="4029370" cy="497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Поставленные задачи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2445" y="4982947"/>
            <a:ext cx="7866459" cy="248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kNN и KD-Tree вручную на C#, изучить алгоритмическую сложность и ограничения</a:t>
            </a:r>
          </a:p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базу данных PostgreSQL для хранения признаков как FLOAT8[]</a:t>
            </a:r>
          </a:p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WPF-интерфейс и проведение замеров времени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98614"/>
            <a:ext cx="16341700" cy="165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999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Недостатки существующих решений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4062" y="3177626"/>
            <a:ext cx="4607871" cy="3407721"/>
            <a:chOff x="0" y="0"/>
            <a:chExt cx="6143828" cy="4543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3879" cy="4543679"/>
            </a:xfrm>
            <a:custGeom>
              <a:avLst/>
              <a:gdLst/>
              <a:ahLst/>
              <a:cxnLst/>
              <a:rect l="l" t="t" r="r" b="b"/>
              <a:pathLst>
                <a:path w="6143879" h="4543679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60999" y="0"/>
                  </a:lnTo>
                  <a:cubicBezTo>
                    <a:pt x="6061964" y="0"/>
                    <a:pt x="6143879" y="81915"/>
                    <a:pt x="6143879" y="182880"/>
                  </a:cubicBezTo>
                  <a:lnTo>
                    <a:pt x="6143879" y="4360799"/>
                  </a:lnTo>
                  <a:cubicBezTo>
                    <a:pt x="6143879" y="4461764"/>
                    <a:pt x="6061964" y="4543679"/>
                    <a:pt x="5960999" y="4543679"/>
                  </a:cubicBezTo>
                  <a:lnTo>
                    <a:pt x="182880" y="4543679"/>
                  </a:lnTo>
                  <a:cubicBezTo>
                    <a:pt x="81915" y="4543679"/>
                    <a:pt x="0" y="4461764"/>
                    <a:pt x="0" y="43607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902" y="3786930"/>
            <a:ext cx="4040534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Линейный поиск — O(n) на запрос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902" y="4674098"/>
            <a:ext cx="4040534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тысячах обучающих примеров время ожидания становится критическим для пользователей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71786" y="3786930"/>
            <a:ext cx="4040686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ML-фреймворки — зависимость и сложность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1786" y="4674098"/>
            <a:ext cx="4040686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Проблемы версионирования, сложная настройка окружения, трудности объяснения на защите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2287" y="3786930"/>
            <a:ext cx="4189276" cy="373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Учебные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2324" y="4268114"/>
            <a:ext cx="4911614" cy="85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полноценной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реализации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C# с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пользовательским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интерфейсом</a:t>
            </a:r>
            <a:endParaRPr lang="en-US" sz="20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13797"/>
            <a:ext cx="7010248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системы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48183"/>
            <a:ext cx="1630352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принципам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чистой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чётким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разделением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ответственностей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3140774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(WPF)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667325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времени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2238" y="4756890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283451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извлечения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(16×16, grayscale),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обучение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6373016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899577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KDNode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KDTree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KNearestNeighbors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DistanceCalculator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чистая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2238" y="7989141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8515693"/>
            <a:ext cx="1470094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Npgsql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classes, images, features, models, experiments,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39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5838" y="734168"/>
            <a:ext cx="863419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Взаимодействие</a:t>
            </a:r>
            <a:r>
              <a:rPr lang="en-US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компонентов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50421" y="4987833"/>
            <a:ext cx="16316325" cy="19050"/>
            <a:chOff x="0" y="0"/>
            <a:chExt cx="21755100" cy="25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5100" cy="25400"/>
            </a:xfrm>
            <a:custGeom>
              <a:avLst/>
              <a:gdLst/>
              <a:ahLst/>
              <a:cxnLst/>
              <a:rect l="l" t="t" r="r" b="b"/>
              <a:pathLst>
                <a:path w="2175510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42400" y="0"/>
                  </a:lnTo>
                  <a:cubicBezTo>
                    <a:pt x="21749386" y="0"/>
                    <a:pt x="21755100" y="5715"/>
                    <a:pt x="21755100" y="12700"/>
                  </a:cubicBezTo>
                  <a:cubicBezTo>
                    <a:pt x="21755100" y="19685"/>
                    <a:pt x="21749386" y="25400"/>
                    <a:pt x="217424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159755" y="4438507"/>
            <a:ext cx="19050" cy="549326"/>
            <a:chOff x="0" y="0"/>
            <a:chExt cx="25400" cy="7324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963292" y="4781854"/>
            <a:ext cx="411956" cy="411956"/>
            <a:chOff x="0" y="0"/>
            <a:chExt cx="549275" cy="5492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31977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4118" y="3246274"/>
            <a:ext cx="462937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Пользовательский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3400" y="3505835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UI-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452576" y="4987833"/>
            <a:ext cx="19050" cy="549326"/>
            <a:chOff x="0" y="0"/>
            <a:chExt cx="25400" cy="7324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256123" y="4781854"/>
            <a:ext cx="411956" cy="411956"/>
            <a:chOff x="0" y="0"/>
            <a:chExt cx="549275" cy="5492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324808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9548" y="5644636"/>
            <a:ext cx="448605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Обработка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приложения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435756" y="6067673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вызывает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извлечения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признаков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0745397" y="4438507"/>
            <a:ext cx="19050" cy="549326"/>
            <a:chOff x="0" y="0"/>
            <a:chExt cx="25400" cy="7324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548944" y="4781854"/>
            <a:ext cx="411956" cy="411956"/>
            <a:chOff x="0" y="0"/>
            <a:chExt cx="549275" cy="5492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617629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68913" y="3207149"/>
            <a:ext cx="295296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Вызов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домена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736764" y="3544147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выполняет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помощью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KD-Tree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038218" y="4987833"/>
            <a:ext cx="19050" cy="549326"/>
            <a:chOff x="0" y="0"/>
            <a:chExt cx="25400" cy="7324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841765" y="4781854"/>
            <a:ext cx="411956" cy="411956"/>
            <a:chOff x="0" y="0"/>
            <a:chExt cx="549275" cy="5492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3910450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4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12853" y="5586421"/>
            <a:ext cx="22888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002348" y="5976306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Возврат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пользователю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7518"/>
            <a:ext cx="8814197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технологии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21694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C#, .NET, WPF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648245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Основной стек разработки приложения с графическим интерфейсом пользователя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047830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Npgsql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574381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классов, изображений, векторов признаков, экспериментов и результатов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73966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System.Drawing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00517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и преобразование изображений (resize, grayscale, нормализация)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900092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и KD-Tree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8426653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Полностью реализованы вручную без ML.NET и других ML-библиотек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1E7078-FEFE-432F-85ED-98D9C2C13A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36" y="2061641"/>
            <a:ext cx="16334927" cy="6163717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AE379806-F34A-A511-142F-B48AB72391D3}"/>
              </a:ext>
            </a:extLst>
          </p:cNvPr>
          <p:cNvSpPr txBox="1"/>
          <p:nvPr/>
        </p:nvSpPr>
        <p:spPr>
          <a:xfrm>
            <a:off x="6656412" y="5715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93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813F1D-DCB9-FA2C-1E6D-FF4C2C4EE9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117" y="895712"/>
            <a:ext cx="10621766" cy="8495575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10B3E3CF-5F84-9727-C3ED-E7BFD2231A12}"/>
              </a:ext>
            </a:extLst>
          </p:cNvPr>
          <p:cNvSpPr txBox="1"/>
          <p:nvPr/>
        </p:nvSpPr>
        <p:spPr>
          <a:xfrm>
            <a:off x="6656413" y="275253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162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E53F90-7E8D-AB8C-E87E-4FDA02E8D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092616"/>
            <a:ext cx="7924800" cy="8101767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46607A4-9DD2-1480-5CD3-77D47913633E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диаграмма </a:t>
            </a:r>
            <a:r>
              <a:rPr lang="ru-RU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бд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927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9511-74C9-3E81-FEA1-387AFF25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5FEEB944-F2BE-1525-9D5C-80CE1BBF4B2F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Use-case 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128E4A-A3F9-1D1B-946C-75B53FEBB0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68" y="984712"/>
            <a:ext cx="12271864" cy="930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8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84199"/>
            <a:ext cx="11892258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80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алгоритмы и процесс обработки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612" y="1941566"/>
            <a:ext cx="5990187" cy="5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endParaRPr lang="en-US" sz="3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47623" y="2878931"/>
            <a:ext cx="3937997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(k-ближайших соседей)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7623" y="3303984"/>
            <a:ext cx="4802686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Находим k ближайших точек в пространстве признаков по евклидову расстоянию, выбираем класс методом голосования большинством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42509" y="2878931"/>
            <a:ext cx="37586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KD-Tree (k-мерное дерево)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42509" y="3303984"/>
            <a:ext cx="480282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Строим бинарное дерево по медиане по оси, на каждом уровне меняем ось разбиения. Поиск с отсечением ветвей для ускорения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37539" y="2878931"/>
            <a:ext cx="311170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Евклидово расстояние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7539" y="3303984"/>
            <a:ext cx="4802829" cy="63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Стандартная метрика для kNN: </a:t>
            </a:r>
            <a:r>
              <a:rPr lang="en-US" i="1">
                <a:solidFill>
                  <a:srgbClr val="1E306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\sqrt{\sum_{i=1}^{n}(a_i - b_i)^2}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237539" y="3718770"/>
            <a:ext cx="1591266" cy="283664"/>
            <a:chOff x="0" y="0"/>
            <a:chExt cx="2121687" cy="37821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2121662" cy="378206"/>
            </a:xfrm>
            <a:custGeom>
              <a:avLst/>
              <a:gdLst/>
              <a:ahLst/>
              <a:cxnLst/>
              <a:rect l="l" t="t" r="r" b="b"/>
              <a:pathLst>
                <a:path w="2121662" h="378206">
                  <a:moveTo>
                    <a:pt x="0" y="0"/>
                  </a:moveTo>
                  <a:lnTo>
                    <a:pt x="2121662" y="0"/>
                  </a:lnTo>
                  <a:lnTo>
                    <a:pt x="2121662" y="378206"/>
                  </a:lnTo>
                  <a:lnTo>
                    <a:pt x="0" y="378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6" r="-1" b="-389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313455" y="5575375"/>
            <a:ext cx="7372502" cy="5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обработки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endParaRPr lang="en-US" sz="3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7623" y="6530511"/>
            <a:ext cx="406583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и масштабирование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7623" y="6955565"/>
            <a:ext cx="4859836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System.Drawing.Bitmap загружает изображение и масштабирует до 16×16 пикселей для унификации размера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2509" y="6547752"/>
            <a:ext cx="283532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Перевод в grayscale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42509" y="6972805"/>
            <a:ext cx="485997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Конвертация RGB в оттенки серого: </a:t>
            </a:r>
            <a:r>
              <a:rPr lang="en-US" i="1">
                <a:solidFill>
                  <a:srgbClr val="1E306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0.299R + 0.587G + 0.114B</a:t>
            </a: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нормализацией в диапазон [0, 1]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37539" y="6530511"/>
            <a:ext cx="283532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Вектор признаков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37539" y="6955565"/>
            <a:ext cx="485997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 значений — по одному на каждый пиксель, записанные построчно в массив FLOAT8[] для хранения в PostgreSQL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00" b="1"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3600"/>
              <a:t>Точность: на тестовой выборке считаем долю правильных предсказаний (accuracy).</a:t>
            </a:r>
          </a:p>
          <a:p>
            <a:r>
              <a:rPr sz="3600"/>
              <a:t>Время построения KD-Tree: Stopwatch при BuildTree — обычно единицы–десятки миллисекунд.</a:t>
            </a:r>
          </a:p>
          <a:p>
            <a:r>
              <a:rPr sz="3600"/>
              <a:t>Время поиска: для N запросов сравниваем суммарное время KD-Tree и линейного поиска; при больших N KD-Tree выигрывает.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00" b="1"/>
              <a:t>Интерфейс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3600"/>
              <a:t>Основное окно: кнопки загрузки, поля выбора k и пути к данным, таблица/список результатов.</a:t>
            </a:r>
          </a:p>
          <a:p>
            <a:r>
              <a:rPr sz="3600"/>
              <a:t>Отображаются: предсказанный класс, фактический класс (если есть), время выполнения, точность.</a:t>
            </a:r>
          </a:p>
          <a:p>
            <a:r>
              <a:rPr sz="3600"/>
              <a:t>Подпись к скриншоту: «Основное окно системы».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5400" b="1"/>
              <a:t>Функциональные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3600"/>
              <a:t>Загрузка изображений по классам, извлечение признаков, сохранение в БД.</a:t>
            </a:r>
          </a:p>
          <a:p>
            <a:r>
              <a:rPr sz="3600"/>
              <a:t>Обучение: построение KD-Tree, сохранение модели, выбор k.</a:t>
            </a:r>
          </a:p>
          <a:p>
            <a:r>
              <a:rPr sz="3600"/>
              <a:t>Классификация: по одному изображению или пакетом; вывод результата и времени.</a:t>
            </a:r>
          </a:p>
          <a:p>
            <a:r>
              <a:rPr sz="3600"/>
              <a:t>Просмотр экспериментов: точность, время KD-Tree vs линейного поиска.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71BD-5285-91E2-FE5D-145D5D5B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A2A9DB-E92D-363D-70DF-74EFF3D8288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756B7C-8D6B-D7A9-6D18-303DCEFFD58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8DFCAB2-2A2C-959B-24AA-0BDA29BCCDC0}"/>
              </a:ext>
            </a:extLst>
          </p:cNvPr>
          <p:cNvGrpSpPr/>
          <p:nvPr/>
        </p:nvGrpSpPr>
        <p:grpSpPr>
          <a:xfrm>
            <a:off x="26831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3D7A39-657B-6710-A1C8-176108CB741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017079D-BB83-4A10-0DD2-2B3E786AA8BC}"/>
              </a:ext>
            </a:extLst>
          </p:cNvPr>
          <p:cNvSpPr txBox="1"/>
          <p:nvPr/>
        </p:nvSpPr>
        <p:spPr>
          <a:xfrm>
            <a:off x="762819" y="1066978"/>
            <a:ext cx="1676236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Практическая значимость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82F4B2-FD96-5DFA-9854-412595979AE0}"/>
              </a:ext>
            </a:extLst>
          </p:cNvPr>
          <p:cNvSpPr txBox="1"/>
          <p:nvPr/>
        </p:nvSpPr>
        <p:spPr>
          <a:xfrm>
            <a:off x="762820" y="2878931"/>
            <a:ext cx="4418782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Учебная ценность: живая демонстрация </a:t>
            </a:r>
            <a:r>
              <a:rPr lang="ru-RU" sz="3200" dirty="0" err="1">
                <a:solidFill>
                  <a:schemeClr val="tx2"/>
                </a:solidFill>
              </a:rPr>
              <a:t>kNN</a:t>
            </a:r>
            <a:r>
              <a:rPr lang="ru-RU" sz="3200" dirty="0">
                <a:solidFill>
                  <a:schemeClr val="tx2"/>
                </a:solidFill>
              </a:rPr>
              <a:t>, KD-</a:t>
            </a:r>
            <a:r>
              <a:rPr lang="ru-RU" sz="3200" dirty="0" err="1">
                <a:solidFill>
                  <a:schemeClr val="tx2"/>
                </a:solidFill>
              </a:rPr>
              <a:t>Tree</a:t>
            </a:r>
            <a:r>
              <a:rPr lang="ru-RU" sz="3200" dirty="0">
                <a:solidFill>
                  <a:schemeClr val="tx2"/>
                </a:solidFill>
              </a:rPr>
              <a:t>, оценки сложности на реальном коде.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E80D92-061A-6E2F-E94E-4F51CF4FA622}"/>
              </a:ext>
            </a:extLst>
          </p:cNvPr>
          <p:cNvSpPr txBox="1"/>
          <p:nvPr/>
        </p:nvSpPr>
        <p:spPr>
          <a:xfrm>
            <a:off x="5715000" y="2878931"/>
            <a:ext cx="5791199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Базовый прототип для более сложных систем: можно заменить признаки, метрику, добавить предобработку.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76B4A20-4BB7-6A79-7049-7FD95531EE39}"/>
              </a:ext>
            </a:extLst>
          </p:cNvPr>
          <p:cNvSpPr txBox="1"/>
          <p:nvPr/>
        </p:nvSpPr>
        <p:spPr>
          <a:xfrm>
            <a:off x="12237539" y="2878931"/>
            <a:ext cx="551706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600" dirty="0">
                <a:solidFill>
                  <a:schemeClr val="tx2"/>
                </a:solidFill>
              </a:rPr>
              <a:t>Результаты экспериментов и код можно использовать в курсе «Алгоритмы и структуры данных».</a:t>
            </a:r>
          </a:p>
        </p:txBody>
      </p:sp>
    </p:spTree>
    <p:extLst>
      <p:ext uri="{BB962C8B-B14F-4D97-AF65-F5344CB8AC3E}">
        <p14:creationId xmlns:p14="http://schemas.microsoft.com/office/powerpoint/2010/main" val="2245347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F6D8-EA5D-E0E1-23BE-FA71F8C6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5E0D57-2279-7BB8-DEA4-6DFED668C82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A5C7C2-0E19-404E-EC99-AEB21EE0D78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2572B50-2F81-E6A9-2313-9E3184E9471F}"/>
              </a:ext>
            </a:extLst>
          </p:cNvPr>
          <p:cNvGrpSpPr/>
          <p:nvPr/>
        </p:nvGrpSpPr>
        <p:grpSpPr>
          <a:xfrm>
            <a:off x="-12879" y="-190500"/>
            <a:ext cx="18288000" cy="10287000"/>
            <a:chOff x="-34344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4D5925-671E-E943-3390-88B1F5277512}"/>
                </a:ext>
              </a:extLst>
            </p:cNvPr>
            <p:cNvSpPr/>
            <p:nvPr/>
          </p:nvSpPr>
          <p:spPr>
            <a:xfrm>
              <a:off x="-34344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6435023-7C0F-D5FE-40DB-96A4A1D93212}"/>
              </a:ext>
            </a:extLst>
          </p:cNvPr>
          <p:cNvSpPr txBox="1"/>
          <p:nvPr/>
        </p:nvSpPr>
        <p:spPr>
          <a:xfrm>
            <a:off x="995458" y="386180"/>
            <a:ext cx="1614954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54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4312AB-A7FC-125B-7717-0642CB4C71C1}"/>
              </a:ext>
            </a:extLst>
          </p:cNvPr>
          <p:cNvSpPr txBox="1"/>
          <p:nvPr/>
        </p:nvSpPr>
        <p:spPr>
          <a:xfrm>
            <a:off x="685800" y="2579631"/>
            <a:ext cx="743325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распознавания цифр и фигур на 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без ML-библиотек; KD-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6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написаны вручную.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7FB184-93B5-3137-29A5-DA0C6D21C79A}"/>
              </a:ext>
            </a:extLst>
          </p:cNvPr>
          <p:cNvSpPr txBox="1">
            <a:spLocks/>
          </p:cNvSpPr>
          <p:nvPr/>
        </p:nvSpPr>
        <p:spPr>
          <a:xfrm>
            <a:off x="9940344" y="2652536"/>
            <a:ext cx="8229600" cy="246221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Проведены эксперименты: замеры времени построения дерева и поиска, сравнение с линейным поиском.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087095-B43A-FE23-7E4D-995627B03D3E}"/>
              </a:ext>
            </a:extLst>
          </p:cNvPr>
          <p:cNvSpPr txBox="1"/>
          <p:nvPr/>
        </p:nvSpPr>
        <p:spPr>
          <a:xfrm>
            <a:off x="5524500" y="5913288"/>
            <a:ext cx="7086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tx2"/>
                </a:solidFill>
              </a:rPr>
              <a:t>Код структурирован по слоям, покрыт тестами, готов к демонстрации и доработке.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366953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B1B78-2255-1F59-0790-13B51CB2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D5625E-65DA-2C08-DC4D-439AF53A01A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774FA1-3194-75D8-9596-07AA418A41E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475F7BC-CA12-1B8A-F3F4-D6F167804686}"/>
              </a:ext>
            </a:extLst>
          </p:cNvPr>
          <p:cNvGrpSpPr/>
          <p:nvPr/>
        </p:nvGrpSpPr>
        <p:grpSpPr>
          <a:xfrm>
            <a:off x="22538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E51389A-B99A-927B-3650-3A64426B0AF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D56CAC0-7605-E506-903C-B3BE22B25F9C}"/>
              </a:ext>
            </a:extLst>
          </p:cNvPr>
          <p:cNvSpPr txBox="1"/>
          <p:nvPr/>
        </p:nvSpPr>
        <p:spPr>
          <a:xfrm>
            <a:off x="991419" y="1161930"/>
            <a:ext cx="16305162" cy="827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ru-RU" sz="9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</a:t>
            </a:r>
            <a:endParaRPr lang="en-US" sz="9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156544D-9956-F61E-A843-2BB09E146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2444155"/>
            <a:ext cx="66675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8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875</Words>
  <Application>Microsoft Office PowerPoint</Application>
  <PresentationFormat>Произвольный</PresentationFormat>
  <Paragraphs>145</Paragraphs>
  <Slides>19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Times New Roman Italics</vt:lpstr>
      <vt:lpstr>Arial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Эксперименты</vt:lpstr>
      <vt:lpstr>Интерфейс программы</vt:lpstr>
      <vt:lpstr>Функциональные возможности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Raspoznavanie-izobrazhenij-s-pomoshyu-kNN-i-KD-Tree.pptx</dc:title>
  <dc:creator>Dmitry</dc:creator>
  <cp:lastModifiedBy>Dmitry</cp:lastModifiedBy>
  <cp:revision>5</cp:revision>
  <dcterms:created xsi:type="dcterms:W3CDTF">2006-08-16T00:00:00Z</dcterms:created>
  <dcterms:modified xsi:type="dcterms:W3CDTF">2026-03-31T21:24:00Z</dcterms:modified>
  <dc:identifier>DAHDlNsHA-4</dc:identifier>
</cp:coreProperties>
</file>